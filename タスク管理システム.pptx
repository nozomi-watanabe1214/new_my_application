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8" r:id="rId1"/>
  </p:sldMasterIdLst>
  <p:sldIdLst>
    <p:sldId id="256" r:id="rId2"/>
    <p:sldId id="264" r:id="rId3"/>
    <p:sldId id="257" r:id="rId4"/>
    <p:sldId id="258" r:id="rId5"/>
    <p:sldId id="259" r:id="rId6"/>
    <p:sldId id="261" r:id="rId7"/>
    <p:sldId id="263"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ja-JP" altLang="en-US"/>
              <a:t>マスター タイトルの書式設定</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ja-JP" altLang="en-US"/>
              <a:t>マスター サブタイトルの書式設定</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endParaRPr kumimoji="1" lang="ja-JP" alt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3A65ADB7-264D-4521-B389-CB8384128B9B}" type="slidenum">
              <a:rPr kumimoji="1" lang="ja-JP" altLang="en-US" smtClean="0"/>
              <a:t>‹#›</a:t>
            </a:fld>
            <a:endParaRPr kumimoji="1" lang="ja-JP" alt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368836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endParaRPr kumimoji="1" lang="ja-JP" altLang="en-US"/>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8DC4806F-8A57-40BE-A78D-79608F060769}" type="datetimeFigureOut">
              <a:rPr kumimoji="1" lang="ja-JP" altLang="en-US" smtClean="0"/>
              <a:t>2026/10/20</a:t>
            </a:fld>
            <a:endParaRPr kumimoji="1" lang="ja-JP" alt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07610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ja-JP" altLang="en-US"/>
              <a:t>マスター タイトルの書式設定</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ja-JP" altLang="en-US"/>
              <a:t>マスター サブタイトルの書式設定</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endParaRPr kumimoji="1" lang="ja-JP" alt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3A65ADB7-264D-4521-B389-CB8384128B9B}" type="slidenum">
              <a:rPr kumimoji="1" lang="ja-JP" altLang="en-US" smtClean="0"/>
              <a:t>‹#›</a:t>
            </a:fld>
            <a:endParaRPr kumimoji="1" lang="ja-JP" alt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66288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ja-JP" altLang="en-US"/>
              <a:t>マスター タイトルの書式設定</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ja-JP" altLang="en-US"/>
              <a:t>マスター サブタイトルの書式設定</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3A65ADB7-264D-4521-B389-CB8384128B9B}" type="slidenum">
              <a:rPr kumimoji="1" lang="ja-JP" altLang="en-US" smtClean="0"/>
              <a:t>‹#›</a:t>
            </a:fld>
            <a:endParaRPr kumimoji="1" lang="ja-JP" alt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83570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セクション見出し">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ja-JP" altLang="en-US"/>
              <a:t>マスター タイトルの書式設定</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3A65ADB7-264D-4521-B389-CB8384128B9B}" type="slidenum">
              <a:rPr kumimoji="1" lang="ja-JP" altLang="en-US" smtClean="0"/>
              <a:t>‹#›</a:t>
            </a:fld>
            <a:endParaRPr kumimoji="1" lang="ja-JP" alt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3887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ja-JP" altLang="en-US"/>
              <a:t>マスター タイトルの書式設定</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8DC4806F-8A57-40BE-A78D-79608F060769}" type="datetimeFigureOut">
              <a:rPr kumimoji="1" lang="ja-JP" altLang="en-US" smtClean="0"/>
              <a:t>2026/10/20</a:t>
            </a:fld>
            <a:endParaRPr kumimoji="1" lang="ja-JP" alt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28087732"/>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ja-JP" altLang="en-US"/>
              <a:t>マスター タイトルの書式設定</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893486"/>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ja-JP" altLang="en-US"/>
              <a:t>マスター タイトルの書式設定</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8DC4806F-8A57-40BE-A78D-79608F060769}" type="datetimeFigureOut">
              <a:rPr kumimoji="1" lang="ja-JP" altLang="en-US" smtClean="0"/>
              <a:t>2026/10/20</a:t>
            </a:fld>
            <a:endParaRPr kumimoji="1" lang="ja-JP" alt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153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ja-JP" altLang="en-US"/>
              <a:t>マスター タイトルの書式設定</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8DC4806F-8A57-40BE-A78D-79608F060769}" type="datetimeFigureOut">
              <a:rPr kumimoji="1" lang="ja-JP" altLang="en-US" smtClean="0"/>
              <a:t>2026/10/20</a:t>
            </a:fld>
            <a:endParaRPr kumimoji="1" lang="ja-JP" alt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5516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ja-JP" altLang="en-US"/>
              <a:t>マスター タイトルの書式設定</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1159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ja-JP" altLang="en-US"/>
              <a:t>マスター タイトルの書式設定</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endParaRPr kumimoji="1" lang="ja-JP" altLang="en-US"/>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8DC4806F-8A57-40BE-A78D-79608F060769}" type="datetimeFigureOut">
              <a:rPr kumimoji="1" lang="ja-JP" altLang="en-US" smtClean="0"/>
              <a:t>2026/10/20</a:t>
            </a:fld>
            <a:endParaRPr kumimoji="1" lang="ja-JP" alt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2701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ja-JP" altLang="en-US"/>
              <a:t>マスター タイトルの書式設定</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endParaRPr kumimoji="1" lang="ja-JP" altLang="en-US"/>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8DC4806F-8A57-40BE-A78D-79608F060769}" type="datetimeFigureOut">
              <a:rPr kumimoji="1" lang="ja-JP" altLang="en-US" smtClean="0"/>
              <a:t>2026/10/20</a:t>
            </a:fld>
            <a:endParaRPr kumimoji="1" lang="ja-JP" alt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25112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ja-JP" altLang="en-US"/>
              <a:t>マスター タイトルの書式設定</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5414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ja-JP" altLang="en-US"/>
              <a:t>マスター タイトルの書式設定</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07695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ja-JP" altLang="en-US"/>
              <a:t>マスター タイトルの書式設定</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endParaRPr kumimoji="1" lang="ja-JP" altLang="en-US"/>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8DC4806F-8A57-40BE-A78D-79608F060769}" type="datetimeFigureOut">
              <a:rPr kumimoji="1" lang="ja-JP" altLang="en-US" smtClean="0"/>
              <a:t>2026/10/20</a:t>
            </a:fld>
            <a:endParaRPr kumimoji="1" lang="ja-JP" alt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68331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ja-JP" altLang="en-US"/>
              <a:t>マスター タイトルの書式設定</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3A65ADB7-264D-4521-B389-CB8384128B9B}" type="slidenum">
              <a:rPr kumimoji="1" lang="ja-JP" altLang="en-US" smtClean="0"/>
              <a:t>‹#›</a:t>
            </a:fld>
            <a:endParaRPr kumimoji="1" lang="ja-JP" alt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139788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ja-JP" altLang="en-US"/>
              <a:t>マスター タイトルの書式設定</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endParaRPr kumimoji="1" lang="ja-JP" altLang="en-US"/>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8DC4806F-8A57-40BE-A78D-79608F060769}" type="datetimeFigureOut">
              <a:rPr kumimoji="1" lang="ja-JP" altLang="en-US" smtClean="0"/>
              <a:t>2026/10/20</a:t>
            </a:fld>
            <a:endParaRPr kumimoji="1" lang="ja-JP" alt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3A65ADB7-264D-4521-B389-CB8384128B9B}" type="slidenum">
              <a:rPr kumimoji="1" lang="ja-JP" altLang="en-US" smtClean="0"/>
              <a:t>‹#›</a:t>
            </a:fld>
            <a:endParaRPr kumimoji="1" lang="ja-JP" alt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86450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ja-JP" altLang="en-US"/>
              <a:t>マスター タイトルの書式設定</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3A65ADB7-264D-4521-B389-CB8384128B9B}" type="slidenum">
              <a:rPr kumimoji="1" lang="ja-JP" altLang="en-US" smtClean="0"/>
              <a:t>‹#›</a:t>
            </a:fld>
            <a:endParaRPr kumimoji="1" lang="ja-JP" alt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31875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3A65ADB7-264D-4521-B389-CB8384128B9B}" type="slidenum">
              <a:rPr kumimoji="1" lang="ja-JP" altLang="en-US" smtClean="0"/>
              <a:t>‹#›</a:t>
            </a:fld>
            <a:endParaRPr kumimoji="1" lang="ja-JP" alt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8877469"/>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ja-JP" altLang="en-US"/>
              <a:t>マスター タイトルの書式設定</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endParaRPr kumimoji="1" lang="ja-JP" alt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8DC4806F-8A57-40BE-A78D-79608F060769}" type="datetimeFigureOut">
              <a:rPr kumimoji="1" lang="ja-JP" altLang="en-US" smtClean="0"/>
              <a:t>2026/10/20</a:t>
            </a:fld>
            <a:endParaRPr kumimoji="1" lang="ja-JP" alt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3A65ADB7-264D-4521-B389-CB8384128B9B}" type="slidenum">
              <a:rPr kumimoji="1" lang="ja-JP" altLang="en-US" smtClean="0"/>
              <a:t>‹#›</a:t>
            </a:fld>
            <a:endParaRPr kumimoji="1" lang="ja-JP" alt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103437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3A65ADB7-264D-4521-B389-CB8384128B9B}" type="slidenum">
              <a:rPr kumimoji="1" lang="ja-JP" altLang="en-US" smtClean="0"/>
              <a:t>‹#›</a:t>
            </a:fld>
            <a:endParaRPr kumimoji="1" lang="ja-JP" alt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5438877"/>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2 つの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ja-JP" altLang="en-US"/>
              <a:t>マスター タイトルの書式設定</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endParaRPr kumimoji="1" lang="ja-JP" altLang="en-US"/>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8DC4806F-8A57-40BE-A78D-79608F060769}" type="datetimeFigureOut">
              <a:rPr kumimoji="1" lang="ja-JP" altLang="en-US" smtClean="0"/>
              <a:t>2026/10/20</a:t>
            </a:fld>
            <a:endParaRPr kumimoji="1" lang="ja-JP" alt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83821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比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ja-JP" altLang="en-US"/>
              <a:t>マスター タイトルの書式設定</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kumimoji="1" lang="ja-JP" altLang="en-US"/>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8DC4806F-8A57-40BE-A78D-79608F060769}" type="datetimeFigureOut">
              <a:rPr kumimoji="1" lang="ja-JP" altLang="en-US" smtClean="0"/>
              <a:t>2026/10/20</a:t>
            </a:fld>
            <a:endParaRPr kumimoji="1" lang="ja-JP" alt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37146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ja-JP" altLang="en-US"/>
              <a:t>マスター タイトルの書式設定</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endParaRPr kumimoji="1" lang="ja-JP" altLang="en-US"/>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8DC4806F-8A57-40BE-A78D-79608F060769}" type="datetimeFigureOut">
              <a:rPr kumimoji="1" lang="ja-JP" altLang="en-US" smtClean="0"/>
              <a:t>2026/10/20</a:t>
            </a:fld>
            <a:endParaRPr kumimoji="1" lang="ja-JP" alt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spTree>
    <p:extLst>
      <p:ext uri="{BB962C8B-B14F-4D97-AF65-F5344CB8AC3E}">
        <p14:creationId xmlns:p14="http://schemas.microsoft.com/office/powerpoint/2010/main" val="25716137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endParaRPr kumimoji="1" lang="ja-JP" altLang="en-US"/>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8DC4806F-8A57-40BE-A78D-79608F060769}" type="datetimeFigureOut">
              <a:rPr kumimoji="1" lang="ja-JP" altLang="en-US" smtClean="0"/>
              <a:t>2026/10/20</a:t>
            </a:fld>
            <a:endParaRPr kumimoji="1" lang="ja-JP" alt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spTree>
    <p:extLst>
      <p:ext uri="{BB962C8B-B14F-4D97-AF65-F5344CB8AC3E}">
        <p14:creationId xmlns:p14="http://schemas.microsoft.com/office/powerpoint/2010/main" val="37799229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ja-JP" altLang="en-US"/>
              <a:t>マスター タイトルの書式設定</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3A65ADB7-264D-4521-B389-CB8384128B9B}" type="slidenum">
              <a:rPr kumimoji="1" lang="ja-JP" altLang="en-US" smtClean="0"/>
              <a:t>‹#›</a:t>
            </a:fld>
            <a:endParaRPr kumimoji="1" lang="ja-JP" alt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Tree>
    <p:extLst>
      <p:ext uri="{BB962C8B-B14F-4D97-AF65-F5344CB8AC3E}">
        <p14:creationId xmlns:p14="http://schemas.microsoft.com/office/powerpoint/2010/main" val="1102715111"/>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ja-JP" altLang="en-US"/>
              <a:t>マスター タイトルの書式設定</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kumimoji="1" lang="ja-JP" alt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3A65ADB7-264D-4521-B389-CB8384128B9B}" type="slidenum">
              <a:rPr kumimoji="1" lang="ja-JP" altLang="en-US" smtClean="0"/>
              <a:t>‹#›</a:t>
            </a:fld>
            <a:endParaRPr kumimoji="1" lang="ja-JP" alt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3673072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ja-JP" altLang="en-US"/>
              <a:t>マスター タイトルの書式設定</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endParaRPr kumimoji="1" lang="ja-JP" altLang="en-US"/>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8DC4806F-8A57-40BE-A78D-79608F060769}" type="datetimeFigureOut">
              <a:rPr kumimoji="1" lang="ja-JP" altLang="en-US" smtClean="0"/>
              <a:t>2026/10/20</a:t>
            </a:fld>
            <a:endParaRPr kumimoji="1" lang="ja-JP" alt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3A65ADB7-264D-4521-B389-CB8384128B9B}" type="slidenum">
              <a:rPr kumimoji="1" lang="ja-JP" altLang="en-US" smtClean="0"/>
              <a:t>‹#›</a:t>
            </a:fld>
            <a:endParaRPr kumimoji="1" lang="ja-JP" altLang="en-US"/>
          </a:p>
        </p:txBody>
      </p:sp>
      <p:sp>
        <p:nvSpPr>
          <p:cNvPr id="8" name="TextBox 7">
            <a:extLst>
              <a:ext uri="{FF2B5EF4-FFF2-40B4-BE49-F238E27FC236}">
                <a16:creationId xmlns:a16="http://schemas.microsoft.com/office/drawing/2014/main" id="{5F143C14-E680-3360-0E4D-DA502AF50E85}"/>
              </a:ext>
            </a:extLst>
          </p:cNvPr>
          <p:cNvSpPr txBox="1"/>
          <p:nvPr>
            <p:extLst>
              <p:ext uri="{1162E1C5-73C7-4A58-AE30-91384D911F3F}">
                <p184:classification xmlns:p184="http://schemas.microsoft.com/office/powerpoint/2018/4/main" val="ftr"/>
              </p:ext>
            </p:extLst>
          </p:nvPr>
        </p:nvSpPr>
        <p:spPr>
          <a:xfrm>
            <a:off x="63500" y="6642100"/>
            <a:ext cx="197802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1306199191"/>
      </p:ext>
    </p:extLst>
  </p:cSld>
  <p:clrMap bg1="lt1" tx1="dk1" bg2="lt2" tx2="dk2" accent1="accent1" accent2="accent2" accent3="accent3" accent4="accent4" accent5="accent5" accent6="accent6" hlink="hlink" folHlink="folHlink"/>
  <p:sldLayoutIdLst>
    <p:sldLayoutId id="2147483899" r:id="rId1"/>
    <p:sldLayoutId id="2147483900" r:id="rId2"/>
    <p:sldLayoutId id="2147483901" r:id="rId3"/>
    <p:sldLayoutId id="2147483902" r:id="rId4"/>
    <p:sldLayoutId id="2147483903" r:id="rId5"/>
    <p:sldLayoutId id="2147483904" r:id="rId6"/>
    <p:sldLayoutId id="2147483905" r:id="rId7"/>
    <p:sldLayoutId id="2147483906" r:id="rId8"/>
    <p:sldLayoutId id="2147483907" r:id="rId9"/>
    <p:sldLayoutId id="2147483908" r:id="rId10"/>
    <p:sldLayoutId id="2147483909" r:id="rId11"/>
    <p:sldLayoutId id="2147483910" r:id="rId12"/>
    <p:sldLayoutId id="2147483911" r:id="rId13"/>
    <p:sldLayoutId id="2147483912" r:id="rId14"/>
    <p:sldLayoutId id="2147483913" r:id="rId15"/>
    <p:sldLayoutId id="2147483914" r:id="rId16"/>
    <p:sldLayoutId id="2147483915" r:id="rId17"/>
    <p:sldLayoutId id="2147483916" r:id="rId18"/>
    <p:sldLayoutId id="2147483917" r:id="rId19"/>
    <p:sldLayoutId id="2147483918" r:id="rId20"/>
    <p:sldLayoutId id="2147483919" r:id="rId21"/>
    <p:sldLayoutId id="2147483920" r:id="rId22"/>
    <p:sldLayoutId id="2147483921" r:id="rId23"/>
    <p:sldLayoutId id="2147483922" r:id="rId24"/>
    <p:sldLayoutId id="2147483923" r:id="rId25"/>
    <p:sldLayoutId id="2147483924" r:id="rId26"/>
    <p:sldLayoutId id="2147483925" r:id="rId27"/>
  </p:sldLayoutIdLst>
  <p:txStyles>
    <p:titleStyle>
      <a:lvl1pPr algn="l" defTabSz="914400" rtl="0" eaLnBrk="1" latinLnBrk="0" hangingPunct="1">
        <a:lnSpc>
          <a:spcPct val="70000"/>
        </a:lnSpc>
        <a:spcBef>
          <a:spcPct val="0"/>
        </a:spcBef>
        <a:buNone/>
        <a:defRPr kumimoji="1"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kumimoji="1"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5.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BA34DA-67E3-DC1A-4BE9-71F6EA5EC27A}"/>
              </a:ext>
            </a:extLst>
          </p:cNvPr>
          <p:cNvSpPr/>
          <p:nvPr/>
        </p:nvSpPr>
        <p:spPr>
          <a:xfrm>
            <a:off x="945221" y="842481"/>
            <a:ext cx="10243335" cy="39247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タスク管理システム</a:t>
            </a:r>
            <a:r>
              <a:rPr kumimoji="1" lang="ja-JP" altLang="en-US" sz="32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とは</a:t>
            </a:r>
            <a:endParaRPr kumimoji="1" lang="ja-JP" altLang="en-US" sz="80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1286022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5CE0243-5D54-B0D4-A614-3B89D2D46DBB}"/>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AAC1827D-7BCF-9208-8395-B69FA80EF557}"/>
              </a:ext>
            </a:extLst>
          </p:cNvPr>
          <p:cNvSpPr/>
          <p:nvPr/>
        </p:nvSpPr>
        <p:spPr>
          <a:xfrm>
            <a:off x="71919" y="174660"/>
            <a:ext cx="10931703" cy="17568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5400" b="0" i="0" u="none" strike="noStrike" kern="1200" cap="none" spc="0" normalizeH="0" baseline="0" noProof="0" dirty="0">
                <a:ln>
                  <a:noFill/>
                </a:ln>
                <a:solidFill>
                  <a:srgbClr val="0070C0"/>
                </a:solidFill>
                <a:effectLst/>
                <a:uLnTx/>
                <a:uFillTx/>
                <a:latin typeface="HGP創英角ﾎﾟｯﾌﾟ体" panose="040B0A00000000000000" pitchFamily="50" charset="-128"/>
                <a:ea typeface="HGP創英角ﾎﾟｯﾌﾟ体" panose="040B0A00000000000000" pitchFamily="50" charset="-128"/>
                <a:cs typeface="+mn-cs"/>
              </a:rPr>
              <a:t>タスク管理システム</a:t>
            </a:r>
            <a:r>
              <a:rPr kumimoji="1" lang="ja-JP" altLang="en-US" sz="3200" b="0" i="0" u="none" strike="noStrike" kern="1200" cap="none" spc="0" normalizeH="0" baseline="0" noProof="0" dirty="0">
                <a:ln>
                  <a:noFill/>
                </a:ln>
                <a:solidFill>
                  <a:srgbClr val="0070C0"/>
                </a:solidFill>
                <a:effectLst/>
                <a:uLnTx/>
                <a:uFillTx/>
                <a:latin typeface="HGP創英角ﾎﾟｯﾌﾟ体" panose="040B0A00000000000000" pitchFamily="50" charset="-128"/>
                <a:ea typeface="HGP創英角ﾎﾟｯﾌﾟ体" panose="040B0A00000000000000" pitchFamily="50" charset="-128"/>
                <a:cs typeface="+mn-cs"/>
              </a:rPr>
              <a:t>を作ろうと思った経緯。。。</a:t>
            </a:r>
            <a:endParaRPr kumimoji="1" lang="ja-JP" altLang="en-US" sz="5400" b="0" i="0" u="none" strike="noStrike" kern="1200" cap="none" spc="0" normalizeH="0" baseline="0" noProof="0" dirty="0">
              <a:ln>
                <a:noFill/>
              </a:ln>
              <a:solidFill>
                <a:srgbClr val="0070C0"/>
              </a:solidFill>
              <a:effectLst/>
              <a:uLnTx/>
              <a:uFillTx/>
              <a:latin typeface="HGP創英角ﾎﾟｯﾌﾟ体" panose="040B0A00000000000000" pitchFamily="50" charset="-128"/>
              <a:ea typeface="HGP創英角ﾎﾟｯﾌﾟ体" panose="040B0A00000000000000" pitchFamily="50" charset="-128"/>
              <a:cs typeface="+mn-cs"/>
            </a:endParaRPr>
          </a:p>
        </p:txBody>
      </p:sp>
      <p:sp>
        <p:nvSpPr>
          <p:cNvPr id="3" name="正方形/長方形 2">
            <a:extLst>
              <a:ext uri="{FF2B5EF4-FFF2-40B4-BE49-F238E27FC236}">
                <a16:creationId xmlns:a16="http://schemas.microsoft.com/office/drawing/2014/main" id="{8571A34C-277C-6945-E93B-9A59C9D96EE4}"/>
              </a:ext>
            </a:extLst>
          </p:cNvPr>
          <p:cNvSpPr/>
          <p:nvPr/>
        </p:nvSpPr>
        <p:spPr>
          <a:xfrm>
            <a:off x="513709" y="1417832"/>
            <a:ext cx="11209104" cy="508570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defRPr/>
            </a:pPr>
            <a:endParaRPr kumimoji="1" lang="en-US" altLang="ja-JP" sz="2800" dirty="0">
              <a:solidFill>
                <a:srgbClr val="171717"/>
              </a:solidFill>
              <a:latin typeface="HGP創英角ﾎﾟｯﾌﾟ体" panose="040B0A00000000000000" pitchFamily="50" charset="-128"/>
              <a:ea typeface="HGP創英角ﾎﾟｯﾌﾟ体" panose="040B0A00000000000000" pitchFamily="50" charset="-128"/>
            </a:endParaRPr>
          </a:p>
          <a:p>
            <a:pPr lvl="0">
              <a:defRPr/>
            </a:pPr>
            <a:r>
              <a:rPr kumimoji="1" lang="ja-JP" altLang="en-US" sz="2800" dirty="0">
                <a:solidFill>
                  <a:srgbClr val="171717"/>
                </a:solidFill>
                <a:latin typeface="HGP創英角ﾎﾟｯﾌﾟ体" panose="040B0A00000000000000" pitchFamily="50" charset="-128"/>
                <a:ea typeface="HGP創英角ﾎﾟｯﾌﾟ体" panose="040B0A00000000000000" pitchFamily="50" charset="-128"/>
              </a:rPr>
              <a:t>★自身の仕事も自分の中だけで進めているとミスが起きた時にも</a:t>
            </a:r>
            <a:endParaRPr kumimoji="1" lang="en-US" altLang="ja-JP" sz="2800" dirty="0">
              <a:solidFill>
                <a:srgbClr val="171717"/>
              </a:solidFill>
              <a:latin typeface="HGP創英角ﾎﾟｯﾌﾟ体" panose="040B0A00000000000000" pitchFamily="50" charset="-128"/>
              <a:ea typeface="HGP創英角ﾎﾟｯﾌﾟ体" panose="040B0A00000000000000" pitchFamily="50" charset="-128"/>
            </a:endParaRPr>
          </a:p>
          <a:p>
            <a:pPr lvl="0">
              <a:defRPr/>
            </a:pPr>
            <a:r>
              <a:rPr kumimoji="1" lang="ja-JP" altLang="en-US" sz="2800" dirty="0">
                <a:solidFill>
                  <a:srgbClr val="171717"/>
                </a:solidFill>
                <a:latin typeface="HGP創英角ﾎﾟｯﾌﾟ体" panose="040B0A00000000000000" pitchFamily="50" charset="-128"/>
                <a:ea typeface="HGP創英角ﾎﾟｯﾌﾟ体" panose="040B0A00000000000000" pitchFamily="50" charset="-128"/>
              </a:rPr>
              <a:t>　フィードバックやアドバイスをもらいにくく、改善しにくいと感じる。</a:t>
            </a:r>
            <a:endParaRPr kumimoji="1" lang="en-US" altLang="ja-JP" sz="2800" dirty="0">
              <a:solidFill>
                <a:srgbClr val="171717"/>
              </a:solidFill>
              <a:latin typeface="HGP創英角ﾎﾟｯﾌﾟ体" panose="040B0A00000000000000" pitchFamily="50" charset="-128"/>
              <a:ea typeface="HGP創英角ﾎﾟｯﾌﾟ体" panose="040B0A00000000000000" pitchFamily="50" charset="-128"/>
            </a:endParaRPr>
          </a:p>
          <a:p>
            <a:pPr lvl="0">
              <a:defRPr/>
            </a:pPr>
            <a:r>
              <a:rPr kumimoji="1" lang="ja-JP" altLang="en-US" sz="2800" dirty="0">
                <a:solidFill>
                  <a:srgbClr val="171717"/>
                </a:solidFill>
                <a:latin typeface="HGP創英角ﾎﾟｯﾌﾟ体" panose="040B0A00000000000000" pitchFamily="50" charset="-128"/>
                <a:ea typeface="HGP創英角ﾎﾟｯﾌﾟ体" panose="040B0A00000000000000" pitchFamily="50" charset="-128"/>
              </a:rPr>
              <a:t>　そのため、</a:t>
            </a:r>
            <a:r>
              <a:rPr kumimoji="1" lang="ja-JP" altLang="en-US" sz="2800" dirty="0">
                <a:solidFill>
                  <a:srgbClr val="FF0000"/>
                </a:solidFill>
                <a:latin typeface="HGP創英角ﾎﾟｯﾌﾟ体" panose="040B0A00000000000000" pitchFamily="50" charset="-128"/>
                <a:ea typeface="HGP創英角ﾎﾟｯﾌﾟ体" panose="040B0A00000000000000" pitchFamily="50" charset="-128"/>
              </a:rPr>
              <a:t>見える化し期限や優先順位をつける</a:t>
            </a:r>
            <a:r>
              <a:rPr kumimoji="1" lang="ja-JP" altLang="en-US" sz="2800" dirty="0">
                <a:solidFill>
                  <a:schemeClr val="bg1"/>
                </a:solidFill>
                <a:latin typeface="HGP創英角ﾎﾟｯﾌﾟ体" panose="040B0A00000000000000" pitchFamily="50" charset="-128"/>
                <a:ea typeface="HGP創英角ﾎﾟｯﾌﾟ体" panose="040B0A00000000000000" pitchFamily="50" charset="-128"/>
              </a:rPr>
              <a:t>こと</a:t>
            </a:r>
            <a:r>
              <a:rPr kumimoji="1" lang="ja-JP" altLang="en-US" sz="2800" dirty="0">
                <a:solidFill>
                  <a:srgbClr val="171717"/>
                </a:solidFill>
                <a:latin typeface="HGP創英角ﾎﾟｯﾌﾟ体" panose="040B0A00000000000000" pitchFamily="50" charset="-128"/>
                <a:ea typeface="HGP創英角ﾎﾟｯﾌﾟ体" panose="040B0A00000000000000" pitchFamily="50" charset="-128"/>
              </a:rPr>
              <a:t>でミスや漏れを</a:t>
            </a:r>
            <a:endParaRPr kumimoji="1" lang="en-US" altLang="ja-JP" sz="2800" dirty="0">
              <a:solidFill>
                <a:srgbClr val="171717"/>
              </a:solidFill>
              <a:latin typeface="HGP創英角ﾎﾟｯﾌﾟ体" panose="040B0A00000000000000" pitchFamily="50" charset="-128"/>
              <a:ea typeface="HGP創英角ﾎﾟｯﾌﾟ体" panose="040B0A00000000000000" pitchFamily="50" charset="-128"/>
            </a:endParaRPr>
          </a:p>
          <a:p>
            <a:pPr lvl="0">
              <a:defRPr/>
            </a:pPr>
            <a:r>
              <a:rPr kumimoji="1" lang="ja-JP" altLang="en-US" sz="2800" dirty="0">
                <a:solidFill>
                  <a:srgbClr val="171717"/>
                </a:solidFill>
                <a:latin typeface="HGP創英角ﾎﾟｯﾌﾟ体" panose="040B0A00000000000000" pitchFamily="50" charset="-128"/>
                <a:ea typeface="HGP創英角ﾎﾟｯﾌﾟ体" panose="040B0A00000000000000" pitchFamily="50" charset="-128"/>
              </a:rPr>
              <a:t>　なくすこと。また、周りから進め方等についてもアドバイスを</a:t>
            </a:r>
            <a:endParaRPr kumimoji="1" lang="en-US" altLang="ja-JP" sz="2800" dirty="0">
              <a:solidFill>
                <a:srgbClr val="171717"/>
              </a:solidFill>
              <a:latin typeface="HGP創英角ﾎﾟｯﾌﾟ体" panose="040B0A00000000000000" pitchFamily="50" charset="-128"/>
              <a:ea typeface="HGP創英角ﾎﾟｯﾌﾟ体" panose="040B0A00000000000000" pitchFamily="50" charset="-128"/>
            </a:endParaRPr>
          </a:p>
          <a:p>
            <a:pPr lvl="0">
              <a:defRPr/>
            </a:pPr>
            <a:r>
              <a:rPr kumimoji="1" lang="ja-JP" altLang="en-US" sz="2800" dirty="0">
                <a:solidFill>
                  <a:srgbClr val="171717"/>
                </a:solidFill>
                <a:latin typeface="HGP創英角ﾎﾟｯﾌﾟ体" panose="040B0A00000000000000" pitchFamily="50" charset="-128"/>
                <a:ea typeface="HGP創英角ﾎﾟｯﾌﾟ体" panose="040B0A00000000000000" pitchFamily="50" charset="-128"/>
              </a:rPr>
              <a:t>　もらうことができる。</a:t>
            </a:r>
            <a:endParaRPr kumimoji="1" lang="en-US" altLang="ja-JP" sz="2800" dirty="0">
              <a:solidFill>
                <a:srgbClr val="171717"/>
              </a:solidFill>
              <a:latin typeface="HGP創英角ﾎﾟｯﾌﾟ体" panose="040B0A00000000000000" pitchFamily="50" charset="-128"/>
              <a:ea typeface="HGP創英角ﾎﾟｯﾌﾟ体" panose="040B0A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2800" b="0" i="0" u="none" strike="noStrike" kern="1200" cap="none" spc="0" normalizeH="0" baseline="0" noProof="0" dirty="0">
              <a:ln>
                <a:noFill/>
              </a:ln>
              <a:solidFill>
                <a:srgbClr val="171717"/>
              </a:solidFill>
              <a:effectLst/>
              <a:uLnTx/>
              <a:uFillTx/>
              <a:latin typeface="HGP創英角ﾎﾟｯﾌﾟ体" panose="040B0A00000000000000" pitchFamily="50" charset="-128"/>
              <a:ea typeface="HGP創英角ﾎﾟｯﾌﾟ体" panose="040B0A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srgbClr val="171717"/>
                </a:solidFill>
                <a:effectLst/>
                <a:uLnTx/>
                <a:uFillTx/>
                <a:latin typeface="HGP創英角ﾎﾟｯﾌﾟ体" panose="040B0A00000000000000" pitchFamily="50" charset="-128"/>
                <a:ea typeface="HGP創英角ﾎﾟｯﾌﾟ体" panose="040B0A00000000000000" pitchFamily="50" charset="-128"/>
                <a:cs typeface="+mn-cs"/>
              </a:rPr>
              <a:t>★仕事を進めていく中で、社外の人との接点がなくとも、社内の人とは</a:t>
            </a:r>
            <a:endParaRPr kumimoji="1" lang="en-US" altLang="ja-JP" sz="2800" b="0" i="0" u="none" strike="noStrike" kern="1200" cap="none" spc="0" normalizeH="0" baseline="0" noProof="0" dirty="0">
              <a:ln>
                <a:noFill/>
              </a:ln>
              <a:solidFill>
                <a:srgbClr val="171717"/>
              </a:solidFill>
              <a:effectLst/>
              <a:uLnTx/>
              <a:uFillTx/>
              <a:latin typeface="HGP創英角ﾎﾟｯﾌﾟ体" panose="040B0A00000000000000" pitchFamily="50" charset="-128"/>
              <a:ea typeface="HGP創英角ﾎﾟｯﾌﾟ体" panose="040B0A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dirty="0">
                <a:solidFill>
                  <a:srgbClr val="171717"/>
                </a:solidFill>
                <a:latin typeface="HGP創英角ﾎﾟｯﾌﾟ体" panose="040B0A00000000000000" pitchFamily="50" charset="-128"/>
                <a:ea typeface="HGP創英角ﾎﾟｯﾌﾟ体" panose="040B0A00000000000000" pitchFamily="50" charset="-128"/>
              </a:rPr>
              <a:t>　共に</a:t>
            </a:r>
            <a:r>
              <a:rPr kumimoji="1" lang="ja-JP" altLang="en-US" sz="2800" dirty="0">
                <a:solidFill>
                  <a:srgbClr val="FF0000"/>
                </a:solidFill>
                <a:latin typeface="HGP創英角ﾎﾟｯﾌﾟ体" panose="040B0A00000000000000" pitchFamily="50" charset="-128"/>
                <a:ea typeface="HGP創英角ﾎﾟｯﾌﾟ体" panose="040B0A00000000000000" pitchFamily="50" charset="-128"/>
              </a:rPr>
              <a:t>早く・いい仕事をしていく必要</a:t>
            </a:r>
            <a:r>
              <a:rPr kumimoji="1" lang="ja-JP" altLang="en-US" sz="2800" dirty="0">
                <a:solidFill>
                  <a:srgbClr val="171717"/>
                </a:solidFill>
                <a:latin typeface="HGP創英角ﾎﾟｯﾌﾟ体" panose="040B0A00000000000000" pitchFamily="50" charset="-128"/>
                <a:ea typeface="HGP創英角ﾎﾟｯﾌﾟ体" panose="040B0A00000000000000" pitchFamily="50" charset="-128"/>
              </a:rPr>
              <a:t>があると考えている。</a:t>
            </a:r>
            <a:endParaRPr kumimoji="1" lang="en-US" altLang="ja-JP" sz="2800" dirty="0">
              <a:solidFill>
                <a:srgbClr val="171717"/>
              </a:solidFill>
              <a:latin typeface="HGP創英角ﾎﾟｯﾌﾟ体" panose="040B0A00000000000000" pitchFamily="50" charset="-128"/>
              <a:ea typeface="HGP創英角ﾎﾟｯﾌﾟ体" panose="040B0A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0" i="0" u="none" strike="noStrike" kern="1200" cap="none" spc="0" normalizeH="0" baseline="0" noProof="0" dirty="0">
                <a:ln>
                  <a:noFill/>
                </a:ln>
                <a:solidFill>
                  <a:srgbClr val="171717"/>
                </a:solidFill>
                <a:effectLst/>
                <a:uLnTx/>
                <a:uFillTx/>
                <a:latin typeface="HGP創英角ﾎﾟｯﾌﾟ体" panose="040B0A00000000000000" pitchFamily="50" charset="-128"/>
                <a:ea typeface="HGP創英角ﾎﾟｯﾌﾟ体" panose="040B0A00000000000000" pitchFamily="50" charset="-128"/>
                <a:cs typeface="+mn-cs"/>
              </a:rPr>
              <a:t>　その中で、進め方の一つとして個々でやるだけでなく</a:t>
            </a:r>
            <a:r>
              <a:rPr kumimoji="1" lang="ja-JP" altLang="en-US" sz="2800" b="0" i="0" u="none" strike="noStrike" kern="1200" cap="none" spc="0" normalizeH="0" baseline="0" noProof="0" dirty="0">
                <a:ln>
                  <a:noFill/>
                </a:ln>
                <a:solidFill>
                  <a:srgbClr val="FF0000"/>
                </a:solidFill>
                <a:effectLst/>
                <a:uLnTx/>
                <a:uFillTx/>
                <a:latin typeface="HGP創英角ﾎﾟｯﾌﾟ体" panose="040B0A00000000000000" pitchFamily="50" charset="-128"/>
                <a:ea typeface="HGP創英角ﾎﾟｯﾌﾟ体" panose="040B0A00000000000000" pitchFamily="50" charset="-128"/>
                <a:cs typeface="+mn-cs"/>
              </a:rPr>
              <a:t>チームで進める</a:t>
            </a:r>
            <a:endParaRPr kumimoji="1" lang="en-US" altLang="ja-JP" sz="2800" b="0" i="0" u="none" strike="noStrike" kern="1200" cap="none" spc="0" normalizeH="0" baseline="0" noProof="0" dirty="0">
              <a:ln>
                <a:noFill/>
              </a:ln>
              <a:solidFill>
                <a:srgbClr val="FF0000"/>
              </a:solidFill>
              <a:effectLst/>
              <a:uLnTx/>
              <a:uFillTx/>
              <a:latin typeface="HGP創英角ﾎﾟｯﾌﾟ体" panose="040B0A00000000000000" pitchFamily="50" charset="-128"/>
              <a:ea typeface="HGP創英角ﾎﾟｯﾌﾟ体" panose="040B0A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dirty="0">
                <a:solidFill>
                  <a:srgbClr val="FF0000"/>
                </a:solidFill>
                <a:latin typeface="HGP創英角ﾎﾟｯﾌﾟ体" panose="040B0A00000000000000" pitchFamily="50" charset="-128"/>
                <a:ea typeface="HGP創英角ﾎﾟｯﾌﾟ体" panose="040B0A00000000000000" pitchFamily="50" charset="-128"/>
              </a:rPr>
              <a:t>　</a:t>
            </a:r>
            <a:r>
              <a:rPr kumimoji="1" lang="ja-JP" altLang="en-US" sz="2800" b="0" i="0" u="none" strike="noStrike" kern="1200" cap="none" spc="0" normalizeH="0" baseline="0" noProof="0" dirty="0">
                <a:ln>
                  <a:noFill/>
                </a:ln>
                <a:solidFill>
                  <a:srgbClr val="FF0000"/>
                </a:solidFill>
                <a:effectLst/>
                <a:uLnTx/>
                <a:uFillTx/>
                <a:latin typeface="HGP創英角ﾎﾟｯﾌﾟ体" panose="040B0A00000000000000" pitchFamily="50" charset="-128"/>
                <a:ea typeface="HGP創英角ﾎﾟｯﾌﾟ体" panose="040B0A00000000000000" pitchFamily="50" charset="-128"/>
                <a:cs typeface="+mn-cs"/>
              </a:rPr>
              <a:t>必要</a:t>
            </a:r>
            <a:r>
              <a:rPr kumimoji="1" lang="ja-JP" altLang="en-US" sz="2800" b="0" i="0" u="none" strike="noStrike" kern="1200" cap="none" spc="0" normalizeH="0" baseline="0" noProof="0" dirty="0">
                <a:ln>
                  <a:noFill/>
                </a:ln>
                <a:solidFill>
                  <a:srgbClr val="171717"/>
                </a:solidFill>
                <a:effectLst/>
                <a:uLnTx/>
                <a:uFillTx/>
                <a:latin typeface="HGP創英角ﾎﾟｯﾌﾟ体" panose="040B0A00000000000000" pitchFamily="50" charset="-128"/>
                <a:ea typeface="HGP創英角ﾎﾟｯﾌﾟ体" panose="040B0A00000000000000" pitchFamily="50" charset="-128"/>
                <a:cs typeface="+mn-cs"/>
              </a:rPr>
              <a:t>があると思うため、</a:t>
            </a:r>
            <a:r>
              <a:rPr kumimoji="1" lang="ja-JP" altLang="en-US" sz="2800" b="0" i="0" u="none" strike="noStrike" kern="1200" cap="none" spc="0" normalizeH="0" baseline="0" noProof="0" dirty="0">
                <a:ln>
                  <a:noFill/>
                </a:ln>
                <a:solidFill>
                  <a:srgbClr val="FF0000"/>
                </a:solidFill>
                <a:effectLst/>
                <a:uLnTx/>
                <a:uFillTx/>
                <a:latin typeface="HGP創英角ﾎﾟｯﾌﾟ体" panose="040B0A00000000000000" pitchFamily="50" charset="-128"/>
                <a:ea typeface="HGP創英角ﾎﾟｯﾌﾟ体" panose="040B0A00000000000000" pitchFamily="50" charset="-128"/>
                <a:cs typeface="+mn-cs"/>
              </a:rPr>
              <a:t>他者からタスクを見える化する</a:t>
            </a:r>
            <a:r>
              <a:rPr kumimoji="1" lang="ja-JP" altLang="en-US" sz="2800" b="0" i="0" u="none" strike="noStrike" kern="1200" cap="none" spc="0" normalizeH="0" baseline="0" noProof="0" dirty="0">
                <a:ln>
                  <a:noFill/>
                </a:ln>
                <a:solidFill>
                  <a:srgbClr val="171717"/>
                </a:solidFill>
                <a:effectLst/>
                <a:uLnTx/>
                <a:uFillTx/>
                <a:latin typeface="HGP創英角ﾎﾟｯﾌﾟ体" panose="040B0A00000000000000" pitchFamily="50" charset="-128"/>
                <a:ea typeface="HGP創英角ﾎﾟｯﾌﾟ体" panose="040B0A00000000000000" pitchFamily="50" charset="-128"/>
                <a:cs typeface="+mn-cs"/>
              </a:rPr>
              <a:t>必要があると</a:t>
            </a:r>
            <a:endParaRPr kumimoji="1" lang="en-US" altLang="ja-JP" sz="2800" b="0" i="0" u="none" strike="noStrike" kern="1200" cap="none" spc="0" normalizeH="0" baseline="0" noProof="0" dirty="0">
              <a:ln>
                <a:noFill/>
              </a:ln>
              <a:solidFill>
                <a:srgbClr val="171717"/>
              </a:solidFill>
              <a:effectLst/>
              <a:uLnTx/>
              <a:uFillTx/>
              <a:latin typeface="HGP創英角ﾎﾟｯﾌﾟ体" panose="040B0A00000000000000" pitchFamily="50" charset="-128"/>
              <a:ea typeface="HGP創英角ﾎﾟｯﾌﾟ体" panose="040B0A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noProof="0" dirty="0">
                <a:solidFill>
                  <a:srgbClr val="171717"/>
                </a:solidFill>
                <a:latin typeface="HGP創英角ﾎﾟｯﾌﾟ体" panose="040B0A00000000000000" pitchFamily="50" charset="-128"/>
                <a:ea typeface="HGP創英角ﾎﾟｯﾌﾟ体" panose="040B0A00000000000000" pitchFamily="50" charset="-128"/>
              </a:rPr>
              <a:t>　</a:t>
            </a:r>
            <a:r>
              <a:rPr kumimoji="1" lang="ja-JP" altLang="en-US" sz="2800" b="0" i="0" u="none" strike="noStrike" kern="1200" cap="none" spc="0" normalizeH="0" baseline="0" noProof="0" dirty="0">
                <a:ln>
                  <a:noFill/>
                </a:ln>
                <a:solidFill>
                  <a:srgbClr val="171717"/>
                </a:solidFill>
                <a:effectLst/>
                <a:uLnTx/>
                <a:uFillTx/>
                <a:latin typeface="HGP創英角ﾎﾟｯﾌﾟ体" panose="040B0A00000000000000" pitchFamily="50" charset="-128"/>
                <a:ea typeface="HGP創英角ﾎﾟｯﾌﾟ体" panose="040B0A00000000000000" pitchFamily="50" charset="-128"/>
                <a:cs typeface="+mn-cs"/>
              </a:rPr>
              <a:t>感じたため。</a:t>
            </a:r>
            <a:endParaRPr kumimoji="1" lang="en-US" altLang="ja-JP" sz="2800" b="0" i="0" u="none" strike="noStrike" kern="1200" cap="none" spc="0" normalizeH="0" baseline="0" noProof="0" dirty="0">
              <a:ln>
                <a:noFill/>
              </a:ln>
              <a:solidFill>
                <a:srgbClr val="171717"/>
              </a:solidFill>
              <a:effectLst/>
              <a:uLnTx/>
              <a:uFillTx/>
              <a:latin typeface="HGP創英角ﾎﾟｯﾌﾟ体" panose="040B0A00000000000000" pitchFamily="50" charset="-128"/>
              <a:ea typeface="HGP創英角ﾎﾟｯﾌﾟ体" panose="040B0A00000000000000" pitchFamily="50" charset="-128"/>
              <a:cs typeface="+mn-cs"/>
            </a:endParaRPr>
          </a:p>
        </p:txBody>
      </p:sp>
    </p:spTree>
    <p:extLst>
      <p:ext uri="{BB962C8B-B14F-4D97-AF65-F5344CB8AC3E}">
        <p14:creationId xmlns:p14="http://schemas.microsoft.com/office/powerpoint/2010/main" val="752222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020DB963-6858-97AE-556A-767E981E7450}"/>
              </a:ext>
            </a:extLst>
          </p:cNvPr>
          <p:cNvSpPr/>
          <p:nvPr/>
        </p:nvSpPr>
        <p:spPr>
          <a:xfrm>
            <a:off x="328773" y="154112"/>
            <a:ext cx="8311793" cy="9760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3600" dirty="0">
                <a:solidFill>
                  <a:srgbClr val="00B0F0"/>
                </a:solidFill>
                <a:latin typeface="HGP創英角ﾎﾟｯﾌﾟ体" panose="040B0A00000000000000" pitchFamily="50" charset="-128"/>
                <a:ea typeface="HGP創英角ﾎﾟｯﾌﾟ体" panose="040B0A00000000000000" pitchFamily="50" charset="-128"/>
              </a:rPr>
              <a:t>①社員登録をする（管理者・上長）</a:t>
            </a:r>
          </a:p>
        </p:txBody>
      </p:sp>
      <p:grpSp>
        <p:nvGrpSpPr>
          <p:cNvPr id="11" name="グループ化 10">
            <a:extLst>
              <a:ext uri="{FF2B5EF4-FFF2-40B4-BE49-F238E27FC236}">
                <a16:creationId xmlns:a16="http://schemas.microsoft.com/office/drawing/2014/main" id="{77F7FD42-5484-C49C-B8DA-240D1E983FCC}"/>
              </a:ext>
            </a:extLst>
          </p:cNvPr>
          <p:cNvGrpSpPr/>
          <p:nvPr/>
        </p:nvGrpSpPr>
        <p:grpSpPr>
          <a:xfrm>
            <a:off x="2126750" y="1231863"/>
            <a:ext cx="8363164" cy="5279485"/>
            <a:chOff x="2126750" y="1231863"/>
            <a:chExt cx="8363164" cy="5279485"/>
          </a:xfrm>
        </p:grpSpPr>
        <p:pic>
          <p:nvPicPr>
            <p:cNvPr id="3" name="図 2">
              <a:extLst>
                <a:ext uri="{FF2B5EF4-FFF2-40B4-BE49-F238E27FC236}">
                  <a16:creationId xmlns:a16="http://schemas.microsoft.com/office/drawing/2014/main" id="{D52F2421-C6EB-2844-E153-D578FDB696E8}"/>
                </a:ext>
              </a:extLst>
            </p:cNvPr>
            <p:cNvPicPr>
              <a:picLocks noChangeAspect="1"/>
            </p:cNvPicPr>
            <p:nvPr/>
          </p:nvPicPr>
          <p:blipFill>
            <a:blip r:embed="rId2"/>
            <a:stretch>
              <a:fillRect/>
            </a:stretch>
          </p:blipFill>
          <p:spPr>
            <a:xfrm>
              <a:off x="2126750" y="1231863"/>
              <a:ext cx="8363164" cy="5279485"/>
            </a:xfrm>
            <a:prstGeom prst="rect">
              <a:avLst/>
            </a:prstGeom>
          </p:spPr>
        </p:pic>
        <p:sp>
          <p:nvSpPr>
            <p:cNvPr id="10" name="正方形/長方形 9">
              <a:extLst>
                <a:ext uri="{FF2B5EF4-FFF2-40B4-BE49-F238E27FC236}">
                  <a16:creationId xmlns:a16="http://schemas.microsoft.com/office/drawing/2014/main" id="{CAE17259-0111-9781-AB81-8E250429051F}"/>
                </a:ext>
              </a:extLst>
            </p:cNvPr>
            <p:cNvSpPr/>
            <p:nvPr/>
          </p:nvSpPr>
          <p:spPr>
            <a:xfrm>
              <a:off x="8568647" y="2260315"/>
              <a:ext cx="1664414" cy="252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四角形: 角を丸くする 1">
            <a:extLst>
              <a:ext uri="{FF2B5EF4-FFF2-40B4-BE49-F238E27FC236}">
                <a16:creationId xmlns:a16="http://schemas.microsoft.com/office/drawing/2014/main" id="{64B1469B-A154-834E-54E5-7155F6E028F2}"/>
              </a:ext>
            </a:extLst>
          </p:cNvPr>
          <p:cNvSpPr/>
          <p:nvPr/>
        </p:nvSpPr>
        <p:spPr>
          <a:xfrm>
            <a:off x="6698750" y="359595"/>
            <a:ext cx="4161033" cy="1047964"/>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a:t>
            </a:r>
            <a:r>
              <a:rPr kumimoji="1" lang="ja-JP" altLang="en-US"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管理者登録はデータベースにて</a:t>
            </a:r>
            <a:endParaRPr kumimoji="1" lang="en-US" altLang="ja-JP"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endParaRPr>
          </a:p>
          <a:p>
            <a:pPr algn="ctr"/>
            <a:r>
              <a:rPr kumimoji="1" lang="ja-JP" altLang="en-US"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直接登録しておくこと！</a:t>
            </a:r>
          </a:p>
        </p:txBody>
      </p:sp>
      <p:sp>
        <p:nvSpPr>
          <p:cNvPr id="8" name="テキスト ボックス 7">
            <a:extLst>
              <a:ext uri="{FF2B5EF4-FFF2-40B4-BE49-F238E27FC236}">
                <a16:creationId xmlns:a16="http://schemas.microsoft.com/office/drawing/2014/main" id="{76B99576-BE40-4180-B16F-5153DA3E589F}"/>
              </a:ext>
            </a:extLst>
          </p:cNvPr>
          <p:cNvSpPr txBox="1"/>
          <p:nvPr/>
        </p:nvSpPr>
        <p:spPr>
          <a:xfrm>
            <a:off x="5079715" y="1243441"/>
            <a:ext cx="6608851" cy="707886"/>
          </a:xfrm>
          <a:prstGeom prst="rect">
            <a:avLst/>
          </a:prstGeom>
          <a:noFill/>
        </p:spPr>
        <p:txBody>
          <a:bodyPr wrap="square">
            <a:spAutoFit/>
          </a:bodyPr>
          <a:lstStyle/>
          <a:p>
            <a:pPr algn="ctr"/>
            <a:r>
              <a:rPr kumimoji="1" lang="ja-JP" altLang="en-US" sz="20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管理者の</a:t>
            </a:r>
            <a:r>
              <a:rPr kumimoji="1" lang="en-US" altLang="ja-JP" sz="20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TOP</a:t>
            </a:r>
            <a:r>
              <a:rPr kumimoji="1" lang="ja-JP" altLang="en-US" sz="20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ページにのみ</a:t>
            </a:r>
            <a:endParaRPr kumimoji="1" lang="en-US" altLang="ja-JP" sz="20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endParaRPr>
          </a:p>
          <a:p>
            <a:pPr algn="ctr"/>
            <a:r>
              <a:rPr kumimoji="1" lang="ja-JP" altLang="en-US" sz="20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「社員登録画面」のタブが表示される！</a:t>
            </a:r>
          </a:p>
        </p:txBody>
      </p:sp>
    </p:spTree>
    <p:extLst>
      <p:ext uri="{BB962C8B-B14F-4D97-AF65-F5344CB8AC3E}">
        <p14:creationId xmlns:p14="http://schemas.microsoft.com/office/powerpoint/2010/main" val="3390302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DEB8D-76BB-DF74-221E-6471A6751F9F}"/>
            </a:ext>
          </a:extLst>
        </p:cNvPr>
        <p:cNvGrpSpPr/>
        <p:nvPr/>
      </p:nvGrpSpPr>
      <p:grpSpPr>
        <a:xfrm>
          <a:off x="0" y="0"/>
          <a:ext cx="0" cy="0"/>
          <a:chOff x="0" y="0"/>
          <a:chExt cx="0" cy="0"/>
        </a:xfrm>
      </p:grpSpPr>
      <p:sp>
        <p:nvSpPr>
          <p:cNvPr id="6" name="正方形/長方形 5">
            <a:extLst>
              <a:ext uri="{FF2B5EF4-FFF2-40B4-BE49-F238E27FC236}">
                <a16:creationId xmlns:a16="http://schemas.microsoft.com/office/drawing/2014/main" id="{F1D6DCE1-D6CC-37C0-3161-1D6019A168D9}"/>
              </a:ext>
            </a:extLst>
          </p:cNvPr>
          <p:cNvSpPr/>
          <p:nvPr/>
        </p:nvSpPr>
        <p:spPr>
          <a:xfrm>
            <a:off x="328773" y="154112"/>
            <a:ext cx="8311793" cy="9760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3600" dirty="0">
                <a:solidFill>
                  <a:srgbClr val="00B0F0"/>
                </a:solidFill>
                <a:latin typeface="HGP創英角ﾎﾟｯﾌﾟ体" panose="040B0A00000000000000" pitchFamily="50" charset="-128"/>
                <a:ea typeface="HGP創英角ﾎﾟｯﾌﾟ体" panose="040B0A00000000000000" pitchFamily="50" charset="-128"/>
              </a:rPr>
              <a:t>②タスクの登録をする（全社員対象）</a:t>
            </a:r>
          </a:p>
        </p:txBody>
      </p:sp>
      <p:grpSp>
        <p:nvGrpSpPr>
          <p:cNvPr id="19" name="グループ化 18">
            <a:extLst>
              <a:ext uri="{FF2B5EF4-FFF2-40B4-BE49-F238E27FC236}">
                <a16:creationId xmlns:a16="http://schemas.microsoft.com/office/drawing/2014/main" id="{73C00760-5EF6-148D-122A-3FE820E75315}"/>
              </a:ext>
            </a:extLst>
          </p:cNvPr>
          <p:cNvGrpSpPr/>
          <p:nvPr/>
        </p:nvGrpSpPr>
        <p:grpSpPr>
          <a:xfrm>
            <a:off x="729465" y="1100503"/>
            <a:ext cx="11096090" cy="5546877"/>
            <a:chOff x="729465" y="1100503"/>
            <a:chExt cx="11096090" cy="5546877"/>
          </a:xfrm>
        </p:grpSpPr>
        <p:grpSp>
          <p:nvGrpSpPr>
            <p:cNvPr id="9" name="グループ化 8">
              <a:extLst>
                <a:ext uri="{FF2B5EF4-FFF2-40B4-BE49-F238E27FC236}">
                  <a16:creationId xmlns:a16="http://schemas.microsoft.com/office/drawing/2014/main" id="{2C2F917E-7E13-2EA1-66CE-87A469444018}"/>
                </a:ext>
              </a:extLst>
            </p:cNvPr>
            <p:cNvGrpSpPr/>
            <p:nvPr/>
          </p:nvGrpSpPr>
          <p:grpSpPr>
            <a:xfrm>
              <a:off x="729465" y="1100503"/>
              <a:ext cx="11096090" cy="5546877"/>
              <a:chOff x="729465" y="1100503"/>
              <a:chExt cx="11096090" cy="5546877"/>
            </a:xfrm>
          </p:grpSpPr>
          <p:pic>
            <p:nvPicPr>
              <p:cNvPr id="4" name="図 3">
                <a:extLst>
                  <a:ext uri="{FF2B5EF4-FFF2-40B4-BE49-F238E27FC236}">
                    <a16:creationId xmlns:a16="http://schemas.microsoft.com/office/drawing/2014/main" id="{4610A557-8FC7-1CF5-96D7-215C29CCA787}"/>
                  </a:ext>
                </a:extLst>
              </p:cNvPr>
              <p:cNvPicPr>
                <a:picLocks noChangeAspect="1"/>
              </p:cNvPicPr>
              <p:nvPr/>
            </p:nvPicPr>
            <p:blipFill>
              <a:blip r:embed="rId2"/>
              <a:stretch>
                <a:fillRect/>
              </a:stretch>
            </p:blipFill>
            <p:spPr>
              <a:xfrm>
                <a:off x="729465" y="1100503"/>
                <a:ext cx="8620018" cy="5546877"/>
              </a:xfrm>
              <a:prstGeom prst="rect">
                <a:avLst/>
              </a:prstGeom>
            </p:spPr>
          </p:pic>
          <p:sp>
            <p:nvSpPr>
              <p:cNvPr id="7" name="吹き出し: 角を丸めた四角形 6">
                <a:extLst>
                  <a:ext uri="{FF2B5EF4-FFF2-40B4-BE49-F238E27FC236}">
                    <a16:creationId xmlns:a16="http://schemas.microsoft.com/office/drawing/2014/main" id="{AD3E790E-5A2B-DA0F-3BB1-D1061BB181D8}"/>
                  </a:ext>
                </a:extLst>
              </p:cNvPr>
              <p:cNvSpPr/>
              <p:nvPr/>
            </p:nvSpPr>
            <p:spPr>
              <a:xfrm>
                <a:off x="7356296" y="2866490"/>
                <a:ext cx="4469259" cy="2342508"/>
              </a:xfrm>
              <a:prstGeom prst="wedgeRoundRectCallout">
                <a:avLst>
                  <a:gd name="adj1" fmla="val -65661"/>
                  <a:gd name="adj2" fmla="val 31798"/>
                  <a:gd name="adj3" fmla="val 16667"/>
                </a:avLst>
              </a:prstGeom>
              <a:solidFill>
                <a:schemeClr val="bg1">
                  <a:lumMod val="95000"/>
                </a:schemeClr>
              </a:solid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800" dirty="0">
                    <a:solidFill>
                      <a:schemeClr val="tx1"/>
                    </a:solidFill>
                    <a:latin typeface="HGP創英角ﾎﾟｯﾌﾟ体" panose="040B0A00000000000000" pitchFamily="50" charset="-128"/>
                    <a:ea typeface="HGP創英角ﾎﾟｯﾌﾟ体" panose="040B0A00000000000000" pitchFamily="50" charset="-128"/>
                  </a:rPr>
                  <a:t>優先度・ステータスを</a:t>
                </a:r>
                <a:endParaRPr kumimoji="1" lang="en-US" altLang="ja-JP" sz="2800" dirty="0">
                  <a:solidFill>
                    <a:schemeClr val="tx1"/>
                  </a:solidFill>
                  <a:latin typeface="HGP創英角ﾎﾟｯﾌﾟ体" panose="040B0A00000000000000" pitchFamily="50" charset="-128"/>
                  <a:ea typeface="HGP創英角ﾎﾟｯﾌﾟ体" panose="040B0A00000000000000" pitchFamily="50" charset="-128"/>
                </a:endParaRPr>
              </a:p>
              <a:p>
                <a:pPr algn="ctr"/>
                <a:r>
                  <a:rPr kumimoji="1" lang="ja-JP" altLang="en-US" sz="2800" dirty="0">
                    <a:solidFill>
                      <a:schemeClr val="tx1"/>
                    </a:solidFill>
                    <a:latin typeface="HGP創英角ﾎﾟｯﾌﾟ体" panose="040B0A00000000000000" pitchFamily="50" charset="-128"/>
                    <a:ea typeface="HGP創英角ﾎﾟｯﾌﾟ体" panose="040B0A00000000000000" pitchFamily="50" charset="-128"/>
                  </a:rPr>
                  <a:t>登録するのがポイント💡</a:t>
                </a:r>
                <a:endParaRPr kumimoji="1" lang="en-US" altLang="ja-JP" sz="2800" dirty="0">
                  <a:solidFill>
                    <a:schemeClr val="tx1"/>
                  </a:solidFill>
                  <a:latin typeface="HGP創英角ﾎﾟｯﾌﾟ体" panose="040B0A00000000000000" pitchFamily="50" charset="-128"/>
                  <a:ea typeface="HGP創英角ﾎﾟｯﾌﾟ体" panose="040B0A00000000000000" pitchFamily="50" charset="-128"/>
                </a:endParaRPr>
              </a:p>
              <a:p>
                <a:pPr algn="ctr"/>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タスクの進行状況や</a:t>
                </a:r>
                <a:endParaRPr kumimoji="1" lang="en-US" altLang="ja-JP" sz="2400" dirty="0">
                  <a:solidFill>
                    <a:schemeClr val="tx1"/>
                  </a:solidFill>
                  <a:latin typeface="HGP創英角ﾎﾟｯﾌﾟ体" panose="040B0A00000000000000" pitchFamily="50" charset="-128"/>
                  <a:ea typeface="HGP創英角ﾎﾟｯﾌﾟ体" panose="040B0A00000000000000" pitchFamily="50" charset="-128"/>
                </a:endParaRPr>
              </a:p>
              <a:p>
                <a:pPr algn="ctr"/>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優先順位を把握できる！</a:t>
                </a:r>
              </a:p>
            </p:txBody>
          </p:sp>
          <p:sp>
            <p:nvSpPr>
              <p:cNvPr id="8" name="正方形/長方形 7">
                <a:extLst>
                  <a:ext uri="{FF2B5EF4-FFF2-40B4-BE49-F238E27FC236}">
                    <a16:creationId xmlns:a16="http://schemas.microsoft.com/office/drawing/2014/main" id="{58CDF62D-A3F5-D0C6-C405-95DA3AE26D94}"/>
                  </a:ext>
                </a:extLst>
              </p:cNvPr>
              <p:cNvSpPr/>
              <p:nvPr/>
            </p:nvSpPr>
            <p:spPr>
              <a:xfrm>
                <a:off x="8096036" y="1993187"/>
                <a:ext cx="1017142" cy="7911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 name="正方形/長方形 1">
              <a:extLst>
                <a:ext uri="{FF2B5EF4-FFF2-40B4-BE49-F238E27FC236}">
                  <a16:creationId xmlns:a16="http://schemas.microsoft.com/office/drawing/2014/main" id="{CD0CAB93-C8B1-E903-B0D8-C2A350301D0E}"/>
                </a:ext>
              </a:extLst>
            </p:cNvPr>
            <p:cNvSpPr/>
            <p:nvPr/>
          </p:nvSpPr>
          <p:spPr>
            <a:xfrm>
              <a:off x="2938410" y="4469258"/>
              <a:ext cx="1315092" cy="1952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25849CF1-1D28-7FF6-D9B9-324F6A8EB74A}"/>
                </a:ext>
              </a:extLst>
            </p:cNvPr>
            <p:cNvSpPr/>
            <p:nvPr/>
          </p:nvSpPr>
          <p:spPr>
            <a:xfrm>
              <a:off x="2946972" y="2556552"/>
              <a:ext cx="2405864" cy="5565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E314C553-C5D4-2E69-104A-C95CD0F9A54E}"/>
                </a:ext>
              </a:extLst>
            </p:cNvPr>
            <p:cNvSpPr/>
            <p:nvPr/>
          </p:nvSpPr>
          <p:spPr>
            <a:xfrm>
              <a:off x="2946972" y="1940103"/>
              <a:ext cx="1315092" cy="1952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629346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EBD4F-744D-F20A-B671-D96691FC7400}"/>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7C6730BD-0009-21C6-01C3-B8C4A6117079}"/>
              </a:ext>
            </a:extLst>
          </p:cNvPr>
          <p:cNvSpPr/>
          <p:nvPr/>
        </p:nvSpPr>
        <p:spPr>
          <a:xfrm>
            <a:off x="5250094" y="1736333"/>
            <a:ext cx="7900827" cy="13767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sz="3200" dirty="0">
              <a:solidFill>
                <a:schemeClr val="accent1"/>
              </a:solidFill>
              <a:latin typeface="HGP創英角ﾎﾟｯﾌﾟ体" panose="040B0A00000000000000" pitchFamily="50" charset="-128"/>
              <a:ea typeface="HGP創英角ﾎﾟｯﾌﾟ体" panose="040B0A00000000000000" pitchFamily="50" charset="-128"/>
            </a:endParaRPr>
          </a:p>
        </p:txBody>
      </p:sp>
      <p:sp>
        <p:nvSpPr>
          <p:cNvPr id="4" name="正方形/長方形 3">
            <a:extLst>
              <a:ext uri="{FF2B5EF4-FFF2-40B4-BE49-F238E27FC236}">
                <a16:creationId xmlns:a16="http://schemas.microsoft.com/office/drawing/2014/main" id="{C889B781-EEBE-C0CC-0CA2-811CED7412C1}"/>
              </a:ext>
            </a:extLst>
          </p:cNvPr>
          <p:cNvSpPr/>
          <p:nvPr/>
        </p:nvSpPr>
        <p:spPr>
          <a:xfrm>
            <a:off x="1746606" y="4530903"/>
            <a:ext cx="410966" cy="15103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 name="グループ化 7">
            <a:extLst>
              <a:ext uri="{FF2B5EF4-FFF2-40B4-BE49-F238E27FC236}">
                <a16:creationId xmlns:a16="http://schemas.microsoft.com/office/drawing/2014/main" id="{ED596A77-3EC6-81D9-9627-F623E279AA32}"/>
              </a:ext>
            </a:extLst>
          </p:cNvPr>
          <p:cNvGrpSpPr/>
          <p:nvPr/>
        </p:nvGrpSpPr>
        <p:grpSpPr>
          <a:xfrm>
            <a:off x="821933" y="1119883"/>
            <a:ext cx="11178284" cy="5435028"/>
            <a:chOff x="821933" y="1058238"/>
            <a:chExt cx="11178284" cy="5496674"/>
          </a:xfrm>
        </p:grpSpPr>
        <p:pic>
          <p:nvPicPr>
            <p:cNvPr id="3" name="図 2">
              <a:extLst>
                <a:ext uri="{FF2B5EF4-FFF2-40B4-BE49-F238E27FC236}">
                  <a16:creationId xmlns:a16="http://schemas.microsoft.com/office/drawing/2014/main" id="{3031E1F2-1CBE-FE27-F0D2-59A3A20DD909}"/>
                </a:ext>
              </a:extLst>
            </p:cNvPr>
            <p:cNvPicPr>
              <a:picLocks noChangeAspect="1"/>
            </p:cNvPicPr>
            <p:nvPr/>
          </p:nvPicPr>
          <p:blipFill>
            <a:blip r:embed="rId2"/>
            <a:stretch>
              <a:fillRect/>
            </a:stretch>
          </p:blipFill>
          <p:spPr>
            <a:xfrm>
              <a:off x="821933" y="1058238"/>
              <a:ext cx="8416626" cy="5496674"/>
            </a:xfrm>
            <a:prstGeom prst="rect">
              <a:avLst/>
            </a:prstGeom>
          </p:spPr>
        </p:pic>
        <p:sp>
          <p:nvSpPr>
            <p:cNvPr id="6" name="吹き出し: 角を丸めた四角形 5">
              <a:extLst>
                <a:ext uri="{FF2B5EF4-FFF2-40B4-BE49-F238E27FC236}">
                  <a16:creationId xmlns:a16="http://schemas.microsoft.com/office/drawing/2014/main" id="{684EF52D-72E3-7881-64AB-3DBF496F4F81}"/>
                </a:ext>
              </a:extLst>
            </p:cNvPr>
            <p:cNvSpPr/>
            <p:nvPr/>
          </p:nvSpPr>
          <p:spPr>
            <a:xfrm>
              <a:off x="7808361" y="2661007"/>
              <a:ext cx="4191856" cy="3530232"/>
            </a:xfrm>
            <a:prstGeom prst="wedgeRoundRectCallout">
              <a:avLst>
                <a:gd name="adj1" fmla="val -82915"/>
                <a:gd name="adj2" fmla="val -39411"/>
                <a:gd name="adj3" fmla="val 16667"/>
              </a:avLst>
            </a:prstGeom>
            <a:solidFill>
              <a:schemeClr val="bg1">
                <a:lumMod val="95000"/>
              </a:schemeClr>
            </a:solidFill>
            <a:ln w="28575">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名前の検索欄は</a:t>
              </a:r>
              <a:endParaRPr kumimoji="1" lang="en-US" altLang="ja-JP" sz="2400" dirty="0">
                <a:solidFill>
                  <a:schemeClr val="tx1"/>
                </a:solidFill>
                <a:latin typeface="HGP創英角ﾎﾟｯﾌﾟ体" panose="040B0A00000000000000" pitchFamily="50" charset="-128"/>
                <a:ea typeface="HGP創英角ﾎﾟｯﾌﾟ体" panose="040B0A00000000000000" pitchFamily="50" charset="-128"/>
              </a:endParaRPr>
            </a:p>
            <a:p>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管理者権限付きの上長のみにして部下のタスクの状態を見れるように💡</a:t>
              </a:r>
              <a:endParaRPr kumimoji="1" lang="en-US" altLang="ja-JP" sz="2400" dirty="0">
                <a:solidFill>
                  <a:schemeClr val="tx1"/>
                </a:solidFill>
                <a:latin typeface="HGP創英角ﾎﾟｯﾌﾟ体" panose="040B0A00000000000000" pitchFamily="50" charset="-128"/>
                <a:ea typeface="HGP創英角ﾎﾟｯﾌﾟ体" panose="040B0A00000000000000" pitchFamily="50" charset="-128"/>
              </a:endParaRPr>
            </a:p>
            <a:p>
              <a:endParaRPr kumimoji="1" lang="en-US" altLang="ja-JP" sz="2000" dirty="0">
                <a:solidFill>
                  <a:schemeClr val="tx1"/>
                </a:solidFill>
                <a:latin typeface="HGP創英角ﾎﾟｯﾌﾟ体" panose="040B0A00000000000000" pitchFamily="50" charset="-128"/>
                <a:ea typeface="HGP創英角ﾎﾟｯﾌﾟ体" panose="040B0A00000000000000" pitchFamily="50" charset="-128"/>
              </a:endParaRPr>
            </a:p>
            <a:p>
              <a:r>
                <a:rPr kumimoji="1" lang="en-US" altLang="ja-JP" sz="2000" dirty="0">
                  <a:solidFill>
                    <a:schemeClr val="tx1"/>
                  </a:solidFill>
                  <a:latin typeface="HGP創英角ﾎﾟｯﾌﾟ体" panose="040B0A00000000000000" pitchFamily="50" charset="-128"/>
                  <a:ea typeface="HGP創英角ﾎﾟｯﾌﾟ体" panose="040B0A00000000000000" pitchFamily="50" charset="-128"/>
                </a:rPr>
                <a:t>※</a:t>
              </a:r>
              <a:r>
                <a:rPr kumimoji="1" lang="ja-JP" altLang="en-US" sz="2000" dirty="0">
                  <a:solidFill>
                    <a:schemeClr val="tx1"/>
                  </a:solidFill>
                  <a:latin typeface="HGP創英角ﾎﾟｯﾌﾟ体" panose="040B0A00000000000000" pitchFamily="50" charset="-128"/>
                  <a:ea typeface="HGP創英角ﾎﾟｯﾌﾟ体" panose="040B0A00000000000000" pitchFamily="50" charset="-128"/>
                </a:rPr>
                <a:t>一般社員は自身ののみ。</a:t>
              </a:r>
            </a:p>
          </p:txBody>
        </p:sp>
        <p:sp>
          <p:nvSpPr>
            <p:cNvPr id="7" name="正方形/長方形 6">
              <a:extLst>
                <a:ext uri="{FF2B5EF4-FFF2-40B4-BE49-F238E27FC236}">
                  <a16:creationId xmlns:a16="http://schemas.microsoft.com/office/drawing/2014/main" id="{BA5C8953-28DD-2131-FFE1-F674F173FCE0}"/>
                </a:ext>
              </a:extLst>
            </p:cNvPr>
            <p:cNvSpPr/>
            <p:nvPr/>
          </p:nvSpPr>
          <p:spPr>
            <a:xfrm>
              <a:off x="5065160" y="3226085"/>
              <a:ext cx="1428107" cy="4109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正方形/長方形 10">
            <a:extLst>
              <a:ext uri="{FF2B5EF4-FFF2-40B4-BE49-F238E27FC236}">
                <a16:creationId xmlns:a16="http://schemas.microsoft.com/office/drawing/2014/main" id="{B98D0354-01D3-B0B5-2672-B6C94DAB29F6}"/>
              </a:ext>
            </a:extLst>
          </p:cNvPr>
          <p:cNvSpPr/>
          <p:nvPr/>
        </p:nvSpPr>
        <p:spPr>
          <a:xfrm>
            <a:off x="328773" y="154112"/>
            <a:ext cx="8311793" cy="97604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3600" dirty="0">
                <a:solidFill>
                  <a:srgbClr val="00B0F0"/>
                </a:solidFill>
                <a:latin typeface="HGP創英角ﾎﾟｯﾌﾟ体" panose="040B0A00000000000000" pitchFamily="50" charset="-128"/>
                <a:ea typeface="HGP創英角ﾎﾟｯﾌﾟ体" panose="040B0A00000000000000" pitchFamily="50" charset="-128"/>
              </a:rPr>
              <a:t>②タスクの検索・一覧表示（全社員対象）</a:t>
            </a:r>
          </a:p>
        </p:txBody>
      </p:sp>
    </p:spTree>
    <p:extLst>
      <p:ext uri="{BB962C8B-B14F-4D97-AF65-F5344CB8AC3E}">
        <p14:creationId xmlns:p14="http://schemas.microsoft.com/office/powerpoint/2010/main" val="1782177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B3F2D-DAA9-2E1D-28F2-4CED61515E8D}"/>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0345B386-C370-7A3E-8485-2DDDD3FDB2ED}"/>
              </a:ext>
            </a:extLst>
          </p:cNvPr>
          <p:cNvSpPr/>
          <p:nvPr/>
        </p:nvSpPr>
        <p:spPr>
          <a:xfrm>
            <a:off x="5250094" y="1736333"/>
            <a:ext cx="7900827" cy="13767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sz="3200" dirty="0">
              <a:solidFill>
                <a:schemeClr val="accent1"/>
              </a:solidFill>
              <a:latin typeface="HGP創英角ﾎﾟｯﾌﾟ体" panose="040B0A00000000000000" pitchFamily="50" charset="-128"/>
              <a:ea typeface="HGP創英角ﾎﾟｯﾌﾟ体" panose="040B0A00000000000000" pitchFamily="50" charset="-128"/>
            </a:endParaRPr>
          </a:p>
        </p:txBody>
      </p:sp>
      <p:grpSp>
        <p:nvGrpSpPr>
          <p:cNvPr id="19" name="グループ化 18">
            <a:extLst>
              <a:ext uri="{FF2B5EF4-FFF2-40B4-BE49-F238E27FC236}">
                <a16:creationId xmlns:a16="http://schemas.microsoft.com/office/drawing/2014/main" id="{C905BBEF-F5C9-8DF0-5896-542245961205}"/>
              </a:ext>
            </a:extLst>
          </p:cNvPr>
          <p:cNvGrpSpPr/>
          <p:nvPr/>
        </p:nvGrpSpPr>
        <p:grpSpPr>
          <a:xfrm>
            <a:off x="718962" y="1115669"/>
            <a:ext cx="7003191" cy="5315953"/>
            <a:chOff x="718962" y="1115669"/>
            <a:chExt cx="7003191" cy="5315953"/>
          </a:xfrm>
        </p:grpSpPr>
        <p:pic>
          <p:nvPicPr>
            <p:cNvPr id="13" name="図 12">
              <a:extLst>
                <a:ext uri="{FF2B5EF4-FFF2-40B4-BE49-F238E27FC236}">
                  <a16:creationId xmlns:a16="http://schemas.microsoft.com/office/drawing/2014/main" id="{41F93D59-0CBB-4C74-A3D8-036D921A8996}"/>
                </a:ext>
              </a:extLst>
            </p:cNvPr>
            <p:cNvPicPr>
              <a:picLocks noChangeAspect="1"/>
            </p:cNvPicPr>
            <p:nvPr/>
          </p:nvPicPr>
          <p:blipFill>
            <a:blip r:embed="rId2"/>
            <a:stretch>
              <a:fillRect/>
            </a:stretch>
          </p:blipFill>
          <p:spPr>
            <a:xfrm>
              <a:off x="718962" y="1115669"/>
              <a:ext cx="7003191" cy="5315953"/>
            </a:xfrm>
            <a:prstGeom prst="rect">
              <a:avLst/>
            </a:prstGeom>
          </p:spPr>
        </p:pic>
        <p:pic>
          <p:nvPicPr>
            <p:cNvPr id="17" name="図 16">
              <a:extLst>
                <a:ext uri="{FF2B5EF4-FFF2-40B4-BE49-F238E27FC236}">
                  <a16:creationId xmlns:a16="http://schemas.microsoft.com/office/drawing/2014/main" id="{4B10C431-82AC-FB93-97DE-325661D82C4A}"/>
                </a:ext>
              </a:extLst>
            </p:cNvPr>
            <p:cNvPicPr>
              <a:picLocks noChangeAspect="1"/>
            </p:cNvPicPr>
            <p:nvPr/>
          </p:nvPicPr>
          <p:blipFill>
            <a:blip r:embed="rId3"/>
            <a:stretch>
              <a:fillRect/>
            </a:stretch>
          </p:blipFill>
          <p:spPr>
            <a:xfrm>
              <a:off x="5804479" y="3768361"/>
              <a:ext cx="1765577" cy="2622165"/>
            </a:xfrm>
            <a:prstGeom prst="rect">
              <a:avLst/>
            </a:prstGeom>
          </p:spPr>
        </p:pic>
        <p:sp>
          <p:nvSpPr>
            <p:cNvPr id="18" name="正方形/長方形 17">
              <a:extLst>
                <a:ext uri="{FF2B5EF4-FFF2-40B4-BE49-F238E27FC236}">
                  <a16:creationId xmlns:a16="http://schemas.microsoft.com/office/drawing/2014/main" id="{057BE7BD-4BC8-C755-119D-98ADACD847F4}"/>
                </a:ext>
              </a:extLst>
            </p:cNvPr>
            <p:cNvSpPr/>
            <p:nvPr/>
          </p:nvSpPr>
          <p:spPr>
            <a:xfrm>
              <a:off x="5866544" y="3462391"/>
              <a:ext cx="1458930" cy="349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F9A90C82-4D71-A616-FDDF-92876A76263E}"/>
                </a:ext>
              </a:extLst>
            </p:cNvPr>
            <p:cNvPicPr>
              <a:picLocks noChangeAspect="1"/>
            </p:cNvPicPr>
            <p:nvPr/>
          </p:nvPicPr>
          <p:blipFill>
            <a:blip r:embed="rId4"/>
            <a:stretch>
              <a:fillRect/>
            </a:stretch>
          </p:blipFill>
          <p:spPr>
            <a:xfrm>
              <a:off x="5775957" y="2114557"/>
              <a:ext cx="1859834" cy="1399205"/>
            </a:xfrm>
            <a:prstGeom prst="rect">
              <a:avLst/>
            </a:prstGeom>
          </p:spPr>
        </p:pic>
      </p:grpSp>
      <p:sp>
        <p:nvSpPr>
          <p:cNvPr id="24" name="吹き出し: 角を丸めた四角形 23">
            <a:extLst>
              <a:ext uri="{FF2B5EF4-FFF2-40B4-BE49-F238E27FC236}">
                <a16:creationId xmlns:a16="http://schemas.microsoft.com/office/drawing/2014/main" id="{39644481-822D-5C1E-FA21-8AB7994173EB}"/>
              </a:ext>
            </a:extLst>
          </p:cNvPr>
          <p:cNvSpPr/>
          <p:nvPr/>
        </p:nvSpPr>
        <p:spPr>
          <a:xfrm>
            <a:off x="7479587" y="3205538"/>
            <a:ext cx="4376791" cy="1839074"/>
          </a:xfrm>
          <a:prstGeom prst="wedgeRoundRectCallout">
            <a:avLst>
              <a:gd name="adj1" fmla="val -58675"/>
              <a:gd name="adj2" fmla="val -38987"/>
              <a:gd name="adj3" fmla="val 16667"/>
            </a:avLst>
          </a:prstGeom>
          <a:solidFill>
            <a:schemeClr val="bg1">
              <a:lumMod val="95000"/>
            </a:schemeClr>
          </a:solidFill>
          <a:ln w="190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2800" dirty="0">
                <a:solidFill>
                  <a:schemeClr val="tx1"/>
                </a:solidFill>
                <a:latin typeface="HGP創英角ﾎﾟｯﾌﾟ体" panose="040B0A00000000000000" pitchFamily="50" charset="-128"/>
                <a:ea typeface="HGP創英角ﾎﾟｯﾌﾟ体" panose="040B0A00000000000000" pitchFamily="50" charset="-128"/>
              </a:rPr>
              <a:t>D.I.</a:t>
            </a:r>
            <a:r>
              <a:rPr kumimoji="1" lang="ja-JP" altLang="en-US" sz="2800" dirty="0">
                <a:solidFill>
                  <a:schemeClr val="tx1"/>
                </a:solidFill>
                <a:latin typeface="HGP創英角ﾎﾟｯﾌﾟ体" panose="040B0A00000000000000" pitchFamily="50" charset="-128"/>
                <a:ea typeface="HGP創英角ﾎﾟｯﾌﾟ体" panose="040B0A00000000000000" pitchFamily="50" charset="-128"/>
              </a:rPr>
              <a:t>ブログの</a:t>
            </a:r>
            <a:r>
              <a:rPr kumimoji="1" lang="en-US" altLang="ja-JP" sz="2800" dirty="0">
                <a:solidFill>
                  <a:schemeClr val="tx1"/>
                </a:solidFill>
                <a:latin typeface="HGP創英角ﾎﾟｯﾌﾟ体" panose="040B0A00000000000000" pitchFamily="50" charset="-128"/>
                <a:ea typeface="HGP創英角ﾎﾟｯﾌﾟ体" panose="040B0A00000000000000" pitchFamily="50" charset="-128"/>
              </a:rPr>
              <a:t>TOP</a:t>
            </a:r>
            <a:r>
              <a:rPr kumimoji="1" lang="ja-JP" altLang="en-US" sz="2800" dirty="0">
                <a:solidFill>
                  <a:schemeClr val="tx1"/>
                </a:solidFill>
                <a:latin typeface="HGP創英角ﾎﾟｯﾌﾟ体" panose="040B0A00000000000000" pitchFamily="50" charset="-128"/>
                <a:ea typeface="HGP創英角ﾎﾟｯﾌﾟ体" panose="040B0A00000000000000" pitchFamily="50" charset="-128"/>
              </a:rPr>
              <a:t>ページへ</a:t>
            </a:r>
            <a:endParaRPr kumimoji="1" lang="en-US" altLang="ja-JP" sz="2800" dirty="0">
              <a:solidFill>
                <a:schemeClr val="tx1"/>
              </a:solidFill>
              <a:latin typeface="HGP創英角ﾎﾟｯﾌﾟ体" panose="040B0A00000000000000" pitchFamily="50" charset="-128"/>
              <a:ea typeface="HGP創英角ﾎﾟｯﾌﾟ体" panose="040B0A00000000000000" pitchFamily="50" charset="-128"/>
            </a:endParaRPr>
          </a:p>
          <a:p>
            <a:r>
              <a:rPr kumimoji="1" lang="ja-JP" altLang="en-US" sz="2800" dirty="0">
                <a:solidFill>
                  <a:schemeClr val="tx1"/>
                </a:solidFill>
                <a:latin typeface="HGP創英角ﾎﾟｯﾌﾟ体" panose="040B0A00000000000000" pitchFamily="50" charset="-128"/>
                <a:ea typeface="HGP創英角ﾎﾟｯﾌﾟ体" panose="040B0A00000000000000" pitchFamily="50" charset="-128"/>
              </a:rPr>
              <a:t>期日が当日・翌日のものを表示💡</a:t>
            </a:r>
            <a:endParaRPr kumimoji="1" lang="en-US" altLang="ja-JP" sz="2800" dirty="0">
              <a:solidFill>
                <a:schemeClr val="tx1"/>
              </a:solidFill>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784523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EC6B0735-6595-FEF9-D7AA-4269816DA60D}"/>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412FBD21-3317-656E-B975-605B2D013B11}"/>
              </a:ext>
            </a:extLst>
          </p:cNvPr>
          <p:cNvSpPr/>
          <p:nvPr/>
        </p:nvSpPr>
        <p:spPr>
          <a:xfrm>
            <a:off x="0" y="246580"/>
            <a:ext cx="5414481" cy="61645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5400" b="0" i="0" u="none" strike="noStrike" kern="1200" cap="none" spc="0" normalizeH="0" baseline="0" noProof="0" dirty="0">
                <a:ln>
                  <a:noFill/>
                </a:ln>
                <a:solidFill>
                  <a:srgbClr val="0070C0"/>
                </a:solidFill>
                <a:effectLst/>
                <a:uLnTx/>
                <a:uFillTx/>
                <a:latin typeface="HGP創英角ﾎﾟｯﾌﾟ体" panose="040B0A00000000000000" pitchFamily="50" charset="-128"/>
                <a:ea typeface="HGP創英角ﾎﾟｯﾌﾟ体" panose="040B0A00000000000000" pitchFamily="50" charset="-128"/>
                <a:cs typeface="+mn-cs"/>
              </a:rPr>
              <a:t>【</a:t>
            </a:r>
            <a:r>
              <a:rPr kumimoji="1" lang="ja-JP" altLang="en-US" sz="5400" b="0" i="0" u="none" strike="noStrike" kern="1200" cap="none" spc="0" normalizeH="0" baseline="0" noProof="0" dirty="0">
                <a:ln>
                  <a:noFill/>
                </a:ln>
                <a:solidFill>
                  <a:srgbClr val="0070C0"/>
                </a:solidFill>
                <a:effectLst/>
                <a:uLnTx/>
                <a:uFillTx/>
                <a:latin typeface="HGP創英角ﾎﾟｯﾌﾟ体" panose="040B0A00000000000000" pitchFamily="50" charset="-128"/>
                <a:ea typeface="HGP創英角ﾎﾟｯﾌﾟ体" panose="040B0A00000000000000" pitchFamily="50" charset="-128"/>
                <a:cs typeface="+mn-cs"/>
              </a:rPr>
              <a:t>機能一覧</a:t>
            </a:r>
            <a:r>
              <a:rPr kumimoji="1" lang="en-US" altLang="ja-JP" sz="5400" b="0" i="0" u="none" strike="noStrike" kern="1200" cap="none" spc="0" normalizeH="0" baseline="0" noProof="0" dirty="0">
                <a:ln>
                  <a:noFill/>
                </a:ln>
                <a:solidFill>
                  <a:srgbClr val="0070C0"/>
                </a:solidFill>
                <a:effectLst/>
                <a:uLnTx/>
                <a:uFillTx/>
                <a:latin typeface="HGP創英角ﾎﾟｯﾌﾟ体" panose="040B0A00000000000000" pitchFamily="50" charset="-128"/>
                <a:ea typeface="HGP創英角ﾎﾟｯﾌﾟ体" panose="040B0A00000000000000" pitchFamily="50" charset="-128"/>
                <a:cs typeface="+mn-cs"/>
              </a:rPr>
              <a:t>】</a:t>
            </a:r>
            <a:endParaRPr kumimoji="1" lang="ja-JP" altLang="en-US" sz="5400" b="0" i="0" u="none" strike="noStrike" kern="1200" cap="none" spc="0" normalizeH="0" baseline="0" noProof="0" dirty="0">
              <a:ln>
                <a:noFill/>
              </a:ln>
              <a:solidFill>
                <a:srgbClr val="0070C0"/>
              </a:solidFill>
              <a:effectLst/>
              <a:uLnTx/>
              <a:uFillTx/>
              <a:latin typeface="HGP創英角ﾎﾟｯﾌﾟ体" panose="040B0A00000000000000" pitchFamily="50" charset="-128"/>
              <a:ea typeface="HGP創英角ﾎﾟｯﾌﾟ体" panose="040B0A00000000000000" pitchFamily="50" charset="-128"/>
              <a:cs typeface="+mn-cs"/>
            </a:endParaRPr>
          </a:p>
        </p:txBody>
      </p:sp>
      <p:sp>
        <p:nvSpPr>
          <p:cNvPr id="3" name="正方形/長方形 2">
            <a:extLst>
              <a:ext uri="{FF2B5EF4-FFF2-40B4-BE49-F238E27FC236}">
                <a16:creationId xmlns:a16="http://schemas.microsoft.com/office/drawing/2014/main" id="{ED540B69-5C74-B38C-BCA7-24AEA0539F68}"/>
              </a:ext>
            </a:extLst>
          </p:cNvPr>
          <p:cNvSpPr/>
          <p:nvPr/>
        </p:nvSpPr>
        <p:spPr>
          <a:xfrm>
            <a:off x="339048" y="698644"/>
            <a:ext cx="11661168" cy="615935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2800" b="0" i="0" u="none" strike="noStrike" kern="1200" cap="none" spc="0" normalizeH="0" baseline="0" noProof="0" dirty="0">
              <a:ln>
                <a:noFill/>
              </a:ln>
              <a:solidFill>
                <a:srgbClr val="F7F6F3"/>
              </a:solidFill>
              <a:effectLst/>
              <a:uLnTx/>
              <a:uFillTx/>
              <a:latin typeface="HGP創英角ﾎﾟｯﾌﾟ体" panose="040B0A00000000000000" pitchFamily="50" charset="-128"/>
              <a:ea typeface="HGP創英角ﾎﾟｯﾌﾟ体" panose="040B0A00000000000000" pitchFamily="50" charset="-128"/>
              <a:cs typeface="+mn-cs"/>
            </a:endParaRPr>
          </a:p>
          <a:p>
            <a:pPr lvl="0"/>
            <a:r>
              <a:rPr kumimoji="1" lang="ja-JP" altLang="en-US" sz="2800" b="0" i="0" u="none" strike="noStrike" kern="1200" cap="none" spc="0" normalizeH="0" baseline="0" noProof="0" dirty="0">
                <a:ln>
                  <a:noFill/>
                </a:ln>
                <a:solidFill>
                  <a:prstClr val="black"/>
                </a:solidFill>
                <a:effectLst/>
                <a:uLnTx/>
                <a:uFillTx/>
                <a:latin typeface="HGP創英角ﾎﾟｯﾌﾟ体" panose="040B0A00000000000000" pitchFamily="50" charset="-128"/>
                <a:ea typeface="HGP創英角ﾎﾟｯﾌﾟ体" panose="040B0A00000000000000" pitchFamily="50" charset="-128"/>
                <a:cs typeface="+mn-cs"/>
              </a:rPr>
              <a:t>・</a:t>
            </a:r>
            <a:r>
              <a:rPr kumimoji="1" lang="ja-JP" altLang="en-US" sz="2800" dirty="0">
                <a:solidFill>
                  <a:srgbClr val="FF0000"/>
                </a:solidFill>
                <a:latin typeface="HGP創英角ﾎﾟｯﾌﾟ体" panose="040B0A00000000000000" pitchFamily="50" charset="-128"/>
                <a:ea typeface="HGP創英角ﾎﾟｯﾌﾟ体" panose="040B0A00000000000000" pitchFamily="50" charset="-128"/>
              </a:rPr>
              <a:t>社員情報の登録　</a:t>
            </a:r>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（氏名・カナ・性別・メールアドレス・部署）</a:t>
            </a:r>
            <a:endParaRPr kumimoji="1" lang="en-US" altLang="ja-JP" sz="2400" dirty="0">
              <a:solidFill>
                <a:schemeClr val="tx1"/>
              </a:solidFill>
              <a:latin typeface="HGP創英角ﾎﾟｯﾌﾟ体" panose="040B0A00000000000000" pitchFamily="50" charset="-128"/>
              <a:ea typeface="HGP創英角ﾎﾟｯﾌﾟ体" panose="040B0A00000000000000" pitchFamily="50" charset="-128"/>
            </a:endParaRPr>
          </a:p>
          <a:p>
            <a:pPr lvl="0"/>
            <a:r>
              <a:rPr kumimoji="1" lang="ja-JP" altLang="en-US" sz="2800" b="0" i="0" u="none" strike="noStrike" kern="1200" cap="none" spc="0" normalizeH="0" baseline="0" noProof="0" dirty="0">
                <a:ln>
                  <a:noFill/>
                </a:ln>
                <a:solidFill>
                  <a:prstClr val="black"/>
                </a:solidFill>
                <a:effectLst/>
                <a:uLnTx/>
                <a:uFillTx/>
                <a:latin typeface="HGP創英角ﾎﾟｯﾌﾟ体" panose="040B0A00000000000000" pitchFamily="50" charset="-128"/>
                <a:ea typeface="HGP創英角ﾎﾟｯﾌﾟ体" panose="040B0A00000000000000" pitchFamily="50" charset="-128"/>
                <a:cs typeface="+mn-cs"/>
              </a:rPr>
              <a:t>→これらのデータベースへの登録　 </a:t>
            </a:r>
            <a:r>
              <a:rPr kumimoji="1" lang="en-US" altLang="ja-JP" sz="1700" u="sng" dirty="0">
                <a:solidFill>
                  <a:prstClr val="black"/>
                </a:solidFill>
                <a:latin typeface="HGP創英角ﾎﾟｯﾌﾟ体" panose="040B0A00000000000000" pitchFamily="50" charset="-128"/>
                <a:ea typeface="HGP創英角ﾎﾟｯﾌﾟ体" panose="040B0A00000000000000" pitchFamily="50" charset="-128"/>
              </a:rPr>
              <a:t>※</a:t>
            </a:r>
            <a:r>
              <a:rPr kumimoji="1" lang="ja-JP" altLang="en-US" sz="1700" u="sng" dirty="0">
                <a:solidFill>
                  <a:prstClr val="black"/>
                </a:solidFill>
                <a:latin typeface="HGP創英角ﾎﾟｯﾌﾟ体" panose="040B0A00000000000000" pitchFamily="50" charset="-128"/>
                <a:ea typeface="HGP創英角ﾎﾟｯﾌﾟ体" panose="040B0A00000000000000" pitchFamily="50" charset="-128"/>
              </a:rPr>
              <a:t>社員</a:t>
            </a:r>
            <a:r>
              <a:rPr kumimoji="1" lang="en-US" altLang="ja-JP" sz="1700" u="sng" dirty="0">
                <a:solidFill>
                  <a:prstClr val="black"/>
                </a:solidFill>
                <a:latin typeface="HGP創英角ﾎﾟｯﾌﾟ体" panose="040B0A00000000000000" pitchFamily="50" charset="-128"/>
                <a:ea typeface="HGP創英角ﾎﾟｯﾌﾟ体" panose="040B0A00000000000000" pitchFamily="50" charset="-128"/>
              </a:rPr>
              <a:t>ID</a:t>
            </a:r>
            <a:r>
              <a:rPr kumimoji="1" lang="ja-JP" altLang="en-US" sz="1700" u="sng" dirty="0">
                <a:solidFill>
                  <a:prstClr val="black"/>
                </a:solidFill>
                <a:latin typeface="HGP創英角ﾎﾟｯﾌﾟ体" panose="040B0A00000000000000" pitchFamily="50" charset="-128"/>
                <a:ea typeface="HGP創英角ﾎﾟｯﾌﾟ体" panose="040B0A00000000000000" pitchFamily="50" charset="-128"/>
              </a:rPr>
              <a:t>・登録日時・更新日時・削除フラグは</a:t>
            </a:r>
            <a:r>
              <a:rPr kumimoji="1" lang="en-US" altLang="ja-JP" sz="1700" u="sng" dirty="0">
                <a:solidFill>
                  <a:prstClr val="black"/>
                </a:solidFill>
                <a:latin typeface="HGP創英角ﾎﾟｯﾌﾟ体" panose="040B0A00000000000000" pitchFamily="50" charset="-128"/>
                <a:ea typeface="HGP創英角ﾎﾟｯﾌﾟ体" panose="040B0A00000000000000" pitchFamily="50" charset="-128"/>
              </a:rPr>
              <a:t>DB</a:t>
            </a:r>
            <a:r>
              <a:rPr kumimoji="1" lang="ja-JP" altLang="en-US" sz="1700" u="sng" dirty="0">
                <a:solidFill>
                  <a:prstClr val="black"/>
                </a:solidFill>
                <a:latin typeface="HGP創英角ﾎﾟｯﾌﾟ体" panose="040B0A00000000000000" pitchFamily="50" charset="-128"/>
                <a:ea typeface="HGP創英角ﾎﾟｯﾌﾟ体" panose="040B0A00000000000000" pitchFamily="50" charset="-128"/>
              </a:rPr>
              <a:t>登録時に自動反映</a:t>
            </a:r>
            <a:endParaRPr kumimoji="1" lang="en-US" altLang="ja-JP" sz="1700" b="0" i="0" u="sng" strike="noStrike" kern="1200" cap="none" spc="0" normalizeH="0" baseline="0" noProof="0" dirty="0">
              <a:ln>
                <a:noFill/>
              </a:ln>
              <a:solidFill>
                <a:prstClr val="black"/>
              </a:solidFill>
              <a:effectLst/>
              <a:uLnTx/>
              <a:uFillTx/>
              <a:latin typeface="HGP創英角ﾎﾟｯﾌﾟ体" panose="040B0A00000000000000" pitchFamily="50" charset="-128"/>
              <a:ea typeface="HGP創英角ﾎﾟｯﾌﾟ体" panose="040B0A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2800" b="0" i="0" u="none" strike="noStrike" kern="1200" cap="none" spc="0" normalizeH="0" baseline="0" noProof="0" dirty="0">
              <a:ln>
                <a:noFill/>
              </a:ln>
              <a:solidFill>
                <a:prstClr val="black"/>
              </a:solidFill>
              <a:effectLst/>
              <a:uLnTx/>
              <a:uFillTx/>
              <a:latin typeface="HGP創英角ﾎﾟｯﾌﾟ体" panose="040B0A00000000000000" pitchFamily="50" charset="-128"/>
              <a:ea typeface="HGP創英角ﾎﾟｯﾌﾟ体" panose="040B0A00000000000000" pitchFamily="50" charset="-128"/>
              <a:cs typeface="+mn-cs"/>
            </a:endParaRPr>
          </a:p>
          <a:p>
            <a:pPr lvl="0"/>
            <a:r>
              <a:rPr kumimoji="1" lang="ja-JP" altLang="en-US" sz="2800" b="0" i="0" u="none" strike="noStrike" kern="1200" cap="none" spc="0" normalizeH="0" baseline="0" noProof="0" dirty="0">
                <a:ln>
                  <a:noFill/>
                </a:ln>
                <a:solidFill>
                  <a:prstClr val="black"/>
                </a:solidFill>
                <a:effectLst/>
                <a:uLnTx/>
                <a:uFillTx/>
                <a:latin typeface="HGP創英角ﾎﾟｯﾌﾟ体" panose="040B0A00000000000000" pitchFamily="50" charset="-128"/>
                <a:ea typeface="HGP創英角ﾎﾟｯﾌﾟ体" panose="040B0A00000000000000" pitchFamily="50" charset="-128"/>
                <a:cs typeface="+mn-cs"/>
              </a:rPr>
              <a:t>・</a:t>
            </a:r>
            <a:r>
              <a:rPr kumimoji="1" lang="ja-JP" altLang="en-US" sz="2800" dirty="0">
                <a:solidFill>
                  <a:srgbClr val="FF0000"/>
                </a:solidFill>
                <a:latin typeface="HGP創英角ﾎﾟｯﾌﾟ体" panose="040B0A00000000000000" pitchFamily="50" charset="-128"/>
                <a:ea typeface="HGP創英角ﾎﾟｯﾌﾟ体" panose="040B0A00000000000000" pitchFamily="50" charset="-128"/>
              </a:rPr>
              <a:t>タスク情報の登録</a:t>
            </a:r>
            <a:r>
              <a:rPr kumimoji="1" lang="ja-JP" altLang="en-US" sz="2400" dirty="0">
                <a:solidFill>
                  <a:srgbClr val="FF0000"/>
                </a:solidFill>
                <a:latin typeface="HGP創英角ﾎﾟｯﾌﾟ体" panose="040B0A00000000000000" pitchFamily="50" charset="-128"/>
                <a:ea typeface="HGP創英角ﾎﾟｯﾌﾟ体" panose="040B0A00000000000000" pitchFamily="50" charset="-128"/>
              </a:rPr>
              <a:t>　</a:t>
            </a:r>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（タスク名・タスク詳細・優先度（★、★★、★★★）・期限</a:t>
            </a:r>
            <a:endParaRPr kumimoji="1" lang="en-US" altLang="ja-JP" sz="2400" dirty="0">
              <a:solidFill>
                <a:schemeClr val="tx1"/>
              </a:solidFill>
              <a:latin typeface="HGP創英角ﾎﾟｯﾌﾟ体" panose="040B0A00000000000000" pitchFamily="50" charset="-128"/>
              <a:ea typeface="HGP創英角ﾎﾟｯﾌﾟ体" panose="040B0A00000000000000" pitchFamily="50" charset="-128"/>
            </a:endParaRPr>
          </a:p>
          <a:p>
            <a:pPr lvl="0"/>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　　　　　　　　　　　　　　　　　　　　　　　　ステータス（未着手、対応中、確認中、完了、保留）</a:t>
            </a:r>
            <a:endParaRPr kumimoji="1" lang="en-US" altLang="ja-JP" sz="2400" dirty="0">
              <a:solidFill>
                <a:schemeClr val="tx1"/>
              </a:solidFill>
              <a:latin typeface="HGP創英角ﾎﾟｯﾌﾟ体" panose="040B0A00000000000000" pitchFamily="50" charset="-128"/>
              <a:ea typeface="HGP創英角ﾎﾟｯﾌﾟ体" panose="040B0A00000000000000" pitchFamily="50" charset="-128"/>
            </a:endParaRPr>
          </a:p>
          <a:p>
            <a:r>
              <a:rPr kumimoji="1" lang="ja-JP" altLang="en-US" sz="2800" dirty="0">
                <a:solidFill>
                  <a:prstClr val="black"/>
                </a:solidFill>
                <a:latin typeface="HGP創英角ﾎﾟｯﾌﾟ体" panose="040B0A00000000000000" pitchFamily="50" charset="-128"/>
                <a:ea typeface="HGP創英角ﾎﾟｯﾌﾟ体" panose="040B0A00000000000000" pitchFamily="50" charset="-128"/>
              </a:rPr>
              <a:t>→これらのデータベースへの登録　 </a:t>
            </a:r>
            <a:r>
              <a:rPr kumimoji="1" lang="en-US" altLang="ja-JP" sz="1700" u="sng" dirty="0">
                <a:solidFill>
                  <a:schemeClr val="tx1"/>
                </a:solidFill>
                <a:latin typeface="HGP創英角ﾎﾟｯﾌﾟ体" panose="040B0A00000000000000" pitchFamily="50" charset="-128"/>
                <a:ea typeface="HGP創英角ﾎﾟｯﾌﾟ体" panose="040B0A00000000000000" pitchFamily="50" charset="-128"/>
              </a:rPr>
              <a:t>※</a:t>
            </a:r>
            <a:r>
              <a:rPr kumimoji="1" lang="ja-JP" altLang="en-US" sz="1700" u="sng" dirty="0">
                <a:solidFill>
                  <a:schemeClr val="tx1"/>
                </a:solidFill>
                <a:latin typeface="HGP創英角ﾎﾟｯﾌﾟ体" panose="040B0A00000000000000" pitchFamily="50" charset="-128"/>
                <a:ea typeface="HGP創英角ﾎﾟｯﾌﾟ体" panose="040B0A00000000000000" pitchFamily="50" charset="-128"/>
              </a:rPr>
              <a:t>登録者（社員</a:t>
            </a:r>
            <a:r>
              <a:rPr kumimoji="1" lang="en-US" altLang="ja-JP" sz="1700" u="sng" dirty="0">
                <a:solidFill>
                  <a:schemeClr val="tx1"/>
                </a:solidFill>
                <a:latin typeface="HGP創英角ﾎﾟｯﾌﾟ体" panose="040B0A00000000000000" pitchFamily="50" charset="-128"/>
                <a:ea typeface="HGP創英角ﾎﾟｯﾌﾟ体" panose="040B0A00000000000000" pitchFamily="50" charset="-128"/>
              </a:rPr>
              <a:t>ID</a:t>
            </a:r>
            <a:r>
              <a:rPr kumimoji="1" lang="ja-JP" altLang="en-US" sz="1700" u="sng" dirty="0">
                <a:solidFill>
                  <a:schemeClr val="tx1"/>
                </a:solidFill>
                <a:latin typeface="HGP創英角ﾎﾟｯﾌﾟ体" panose="040B0A00000000000000" pitchFamily="50" charset="-128"/>
                <a:ea typeface="HGP創英角ﾎﾟｯﾌﾟ体" panose="040B0A00000000000000" pitchFamily="50" charset="-128"/>
              </a:rPr>
              <a:t>）・登録日時・更新日時は</a:t>
            </a:r>
            <a:r>
              <a:rPr kumimoji="1" lang="en-US" altLang="ja-JP" sz="1700" u="sng" dirty="0">
                <a:solidFill>
                  <a:schemeClr val="tx1"/>
                </a:solidFill>
                <a:latin typeface="HGP創英角ﾎﾟｯﾌﾟ体" panose="040B0A00000000000000" pitchFamily="50" charset="-128"/>
                <a:ea typeface="HGP創英角ﾎﾟｯﾌﾟ体" panose="040B0A00000000000000" pitchFamily="50" charset="-128"/>
              </a:rPr>
              <a:t>DB</a:t>
            </a:r>
            <a:r>
              <a:rPr kumimoji="1" lang="ja-JP" altLang="en-US" sz="1700" u="sng" dirty="0">
                <a:solidFill>
                  <a:schemeClr val="tx1"/>
                </a:solidFill>
                <a:latin typeface="HGP創英角ﾎﾟｯﾌﾟ体" panose="040B0A00000000000000" pitchFamily="50" charset="-128"/>
                <a:ea typeface="HGP創英角ﾎﾟｯﾌﾟ体" panose="040B0A00000000000000" pitchFamily="50" charset="-128"/>
              </a:rPr>
              <a:t>登録時に自動反映</a:t>
            </a:r>
            <a:endParaRPr kumimoji="1" lang="en-US" altLang="ja-JP" sz="1700" u="sng" dirty="0">
              <a:solidFill>
                <a:schemeClr val="tx1"/>
              </a:solidFill>
              <a:latin typeface="HGP創英角ﾎﾟｯﾌﾟ体" panose="040B0A00000000000000" pitchFamily="50" charset="-128"/>
              <a:ea typeface="HGP創英角ﾎﾟｯﾌﾟ体" panose="040B0A00000000000000" pitchFamily="50" charset="-128"/>
            </a:endParaRPr>
          </a:p>
          <a:p>
            <a:pPr lvl="0"/>
            <a:endParaRPr kumimoji="1" lang="en-US" altLang="ja-JP" sz="2400" b="0" i="0" u="none" strike="noStrike" kern="1200" cap="none" spc="0" normalizeH="0" baseline="0" noProof="0" dirty="0">
              <a:ln>
                <a:noFill/>
              </a:ln>
              <a:solidFill>
                <a:schemeClr val="tx1"/>
              </a:solidFill>
              <a:effectLst/>
              <a:uLnTx/>
              <a:uFillTx/>
              <a:latin typeface="HGP創英角ﾎﾟｯﾌﾟ体" panose="040B0A00000000000000" pitchFamily="50" charset="-128"/>
              <a:ea typeface="HGP創英角ﾎﾟｯﾌﾟ体" panose="040B0A00000000000000" pitchFamily="50" charset="-128"/>
              <a:cs typeface="+mn-cs"/>
            </a:endParaRPr>
          </a:p>
          <a:p>
            <a:pPr lvl="0"/>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a:t>
            </a:r>
            <a:r>
              <a:rPr kumimoji="1" lang="ja-JP" altLang="en-US" sz="2800" dirty="0">
                <a:solidFill>
                  <a:srgbClr val="FF0000"/>
                </a:solidFill>
                <a:latin typeface="HGP創英角ﾎﾟｯﾌﾟ体" panose="040B0A00000000000000" pitchFamily="50" charset="-128"/>
                <a:ea typeface="HGP創英角ﾎﾟｯﾌﾟ体" panose="040B0A00000000000000" pitchFamily="50" charset="-128"/>
              </a:rPr>
              <a:t>タスクの検索・一覧表示　</a:t>
            </a:r>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（名前・タスク名・優先度・期限（当日、翌日、今週中）・</a:t>
            </a:r>
            <a:endParaRPr kumimoji="1" lang="en-US" altLang="ja-JP" sz="2400" dirty="0">
              <a:solidFill>
                <a:schemeClr val="tx1"/>
              </a:solidFill>
              <a:latin typeface="HGP創英角ﾎﾟｯﾌﾟ体" panose="040B0A00000000000000" pitchFamily="50" charset="-128"/>
              <a:ea typeface="HGP創英角ﾎﾟｯﾌﾟ体" panose="040B0A00000000000000" pitchFamily="50" charset="-128"/>
            </a:endParaRPr>
          </a:p>
          <a:p>
            <a:pPr lvl="0"/>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　　　　　　　　　　　　　　　　　　　　　　　　　　　　　　　　　　　　　　　　ステータス・更新ボタン）</a:t>
            </a:r>
            <a:endParaRPr kumimoji="1" lang="en-US" altLang="ja-JP" sz="2400" dirty="0">
              <a:solidFill>
                <a:schemeClr val="tx1"/>
              </a:solidFill>
              <a:latin typeface="HGP創英角ﾎﾟｯﾌﾟ体" panose="040B0A00000000000000" pitchFamily="50" charset="-128"/>
              <a:ea typeface="HGP創英角ﾎﾟｯﾌﾟ体" panose="040B0A00000000000000" pitchFamily="50" charset="-128"/>
            </a:endParaRPr>
          </a:p>
          <a:p>
            <a:pPr lvl="0" algn="r"/>
            <a:r>
              <a:rPr kumimoji="1" lang="ja-JP" altLang="en-US" sz="2400" b="0" i="0" u="none" strike="noStrike" kern="1200" cap="none" spc="0" normalizeH="0" baseline="0" noProof="0" dirty="0">
                <a:ln>
                  <a:noFill/>
                </a:ln>
                <a:solidFill>
                  <a:schemeClr val="tx1"/>
                </a:solidFill>
                <a:effectLst/>
                <a:uLnTx/>
                <a:uFillTx/>
                <a:latin typeface="HGP創英角ﾎﾟｯﾌﾟ体" panose="040B0A00000000000000" pitchFamily="50" charset="-128"/>
                <a:ea typeface="HGP創英角ﾎﾟｯﾌﾟ体" panose="040B0A00000000000000" pitchFamily="50" charset="-128"/>
                <a:cs typeface="+mn-cs"/>
              </a:rPr>
              <a:t>　</a:t>
            </a:r>
            <a:r>
              <a:rPr kumimoji="1" lang="en-US" altLang="ja-JP" b="0" i="0" u="sng" strike="noStrike" kern="1200" cap="none" spc="0" normalizeH="0" baseline="0" noProof="0" dirty="0">
                <a:ln>
                  <a:noFill/>
                </a:ln>
                <a:solidFill>
                  <a:schemeClr val="tx1"/>
                </a:solidFill>
                <a:effectLst/>
                <a:uLnTx/>
                <a:uFillTx/>
                <a:latin typeface="HGP創英角ﾎﾟｯﾌﾟ体" panose="040B0A00000000000000" pitchFamily="50" charset="-128"/>
                <a:ea typeface="HGP創英角ﾎﾟｯﾌﾟ体" panose="040B0A00000000000000" pitchFamily="50" charset="-128"/>
                <a:cs typeface="+mn-cs"/>
              </a:rPr>
              <a:t>※</a:t>
            </a:r>
            <a:r>
              <a:rPr kumimoji="1" lang="ja-JP" altLang="en-US" b="0" i="0" u="sng" strike="noStrike" kern="1200" cap="none" spc="0" normalizeH="0" baseline="0" noProof="0" dirty="0">
                <a:ln>
                  <a:noFill/>
                </a:ln>
                <a:solidFill>
                  <a:schemeClr val="tx1"/>
                </a:solidFill>
                <a:effectLst/>
                <a:uLnTx/>
                <a:uFillTx/>
                <a:latin typeface="HGP創英角ﾎﾟｯﾌﾟ体" panose="040B0A00000000000000" pitchFamily="50" charset="-128"/>
                <a:ea typeface="HGP創英角ﾎﾟｯﾌﾟ体" panose="040B0A00000000000000" pitchFamily="50" charset="-128"/>
                <a:cs typeface="+mn-cs"/>
              </a:rPr>
              <a:t>一般社員は自身ののみ。管理者（上長）は全社員の閲覧可能。</a:t>
            </a:r>
            <a:endParaRPr kumimoji="1" lang="en-US" altLang="ja-JP" b="0" i="0" u="sng" strike="noStrike" kern="1200" cap="none" spc="0" normalizeH="0" baseline="0" noProof="0" dirty="0">
              <a:ln>
                <a:noFill/>
              </a:ln>
              <a:solidFill>
                <a:schemeClr val="tx1"/>
              </a:solidFill>
              <a:effectLst/>
              <a:uLnTx/>
              <a:uFillTx/>
              <a:latin typeface="HGP創英角ﾎﾟｯﾌﾟ体" panose="040B0A00000000000000" pitchFamily="50" charset="-128"/>
              <a:ea typeface="HGP創英角ﾎﾟｯﾌﾟ体" panose="040B0A00000000000000" pitchFamily="50" charset="-128"/>
              <a:cs typeface="+mn-cs"/>
            </a:endParaRPr>
          </a:p>
          <a:p>
            <a:r>
              <a:rPr kumimoji="1" lang="ja-JP" altLang="en-US" sz="2800" dirty="0">
                <a:solidFill>
                  <a:schemeClr val="tx1"/>
                </a:solidFill>
                <a:latin typeface="HGP創英角ﾎﾟｯﾌﾟ体" panose="040B0A00000000000000" pitchFamily="50" charset="-128"/>
                <a:ea typeface="HGP創英角ﾎﾟｯﾌﾟ体" panose="040B0A00000000000000" pitchFamily="50" charset="-128"/>
              </a:rPr>
              <a:t>→</a:t>
            </a:r>
            <a:r>
              <a:rPr kumimoji="1" lang="ja-JP" altLang="en-US" sz="2800" dirty="0">
                <a:solidFill>
                  <a:srgbClr val="FF0000"/>
                </a:solidFill>
                <a:latin typeface="HGP創英角ﾎﾟｯﾌﾟ体" panose="040B0A00000000000000" pitchFamily="50" charset="-128"/>
                <a:ea typeface="HGP創英角ﾎﾟｯﾌﾟ体" panose="040B0A00000000000000" pitchFamily="50" charset="-128"/>
              </a:rPr>
              <a:t>更新ボタンより右記の項目の変更可能</a:t>
            </a:r>
            <a:r>
              <a:rPr kumimoji="1" lang="ja-JP" altLang="en-US" sz="2400" dirty="0">
                <a:solidFill>
                  <a:schemeClr val="tx1"/>
                </a:solidFill>
                <a:latin typeface="HGP創英角ﾎﾟｯﾌﾟ体" panose="040B0A00000000000000" pitchFamily="50" charset="-128"/>
                <a:ea typeface="HGP創英角ﾎﾟｯﾌﾟ体" panose="040B0A00000000000000" pitchFamily="50" charset="-128"/>
              </a:rPr>
              <a:t>（期限・優先度・ステータス・完了日）</a:t>
            </a:r>
            <a:endParaRPr kumimoji="1" lang="en-US" altLang="ja-JP" sz="2400" b="0" i="0" u="sng" strike="noStrike" kern="1200" cap="none" spc="0" normalizeH="0" baseline="0" noProof="0" dirty="0">
              <a:ln>
                <a:noFill/>
              </a:ln>
              <a:solidFill>
                <a:schemeClr val="tx1"/>
              </a:solidFill>
              <a:effectLst/>
              <a:uLnTx/>
              <a:uFillTx/>
              <a:latin typeface="HGP創英角ﾎﾟｯﾌﾟ体" panose="040B0A00000000000000" pitchFamily="50" charset="-128"/>
              <a:ea typeface="HGP創英角ﾎﾟｯﾌﾟ体" panose="040B0A00000000000000" pitchFamily="50" charset="-128"/>
              <a:cs typeface="+mn-cs"/>
            </a:endParaRPr>
          </a:p>
          <a:p>
            <a:pPr lvl="0"/>
            <a:endParaRPr kumimoji="1" lang="en-US" altLang="ja-JP" sz="2400" u="sng" dirty="0">
              <a:solidFill>
                <a:schemeClr val="tx1"/>
              </a:solidFill>
              <a:latin typeface="HGP創英角ﾎﾟｯﾌﾟ体" panose="040B0A00000000000000" pitchFamily="50" charset="-128"/>
              <a:ea typeface="HGP創英角ﾎﾟｯﾌﾟ体" panose="040B0A00000000000000" pitchFamily="50" charset="-128"/>
            </a:endParaRPr>
          </a:p>
          <a:p>
            <a:pPr lvl="0"/>
            <a:r>
              <a:rPr kumimoji="1" lang="ja-JP" altLang="en-US" sz="2800" dirty="0">
                <a:solidFill>
                  <a:schemeClr val="tx1"/>
                </a:solidFill>
                <a:latin typeface="HGP創英角ﾎﾟｯﾌﾟ体" panose="040B0A00000000000000" pitchFamily="50" charset="-128"/>
                <a:ea typeface="HGP創英角ﾎﾟｯﾌﾟ体" panose="040B0A00000000000000" pitchFamily="50" charset="-128"/>
              </a:rPr>
              <a:t>・</a:t>
            </a:r>
            <a:r>
              <a:rPr kumimoji="1" lang="ja-JP" altLang="en-US" sz="2800" dirty="0">
                <a:solidFill>
                  <a:srgbClr val="FF0000"/>
                </a:solidFill>
                <a:latin typeface="HGP創英角ﾎﾟｯﾌﾟ体" panose="040B0A00000000000000" pitchFamily="50" charset="-128"/>
                <a:ea typeface="HGP創英角ﾎﾟｯﾌﾟ体" panose="040B0A00000000000000" pitchFamily="50" charset="-128"/>
              </a:rPr>
              <a:t>当日・翌日が期限のタスクを</a:t>
            </a:r>
            <a:r>
              <a:rPr kumimoji="1" lang="en-US" altLang="ja-JP" sz="2800" dirty="0">
                <a:solidFill>
                  <a:srgbClr val="FF0000"/>
                </a:solidFill>
                <a:latin typeface="HGP創英角ﾎﾟｯﾌﾟ体" panose="040B0A00000000000000" pitchFamily="50" charset="-128"/>
                <a:ea typeface="HGP創英角ﾎﾟｯﾌﾟ体" panose="040B0A00000000000000" pitchFamily="50" charset="-128"/>
              </a:rPr>
              <a:t>TOP</a:t>
            </a:r>
            <a:r>
              <a:rPr kumimoji="1" lang="ja-JP" altLang="en-US" sz="2800" dirty="0">
                <a:solidFill>
                  <a:srgbClr val="FF0000"/>
                </a:solidFill>
                <a:latin typeface="HGP創英角ﾎﾟｯﾌﾟ体" panose="040B0A00000000000000" pitchFamily="50" charset="-128"/>
                <a:ea typeface="HGP創英角ﾎﾟｯﾌﾟ体" panose="040B0A00000000000000" pitchFamily="50" charset="-128"/>
              </a:rPr>
              <a:t>ページへ表示</a:t>
            </a:r>
            <a:endParaRPr kumimoji="1" lang="en-US" altLang="ja-JP" sz="2800" b="0" i="0" strike="noStrike" kern="1200" cap="none" spc="0" normalizeH="0" baseline="0" noProof="0" dirty="0">
              <a:ln>
                <a:noFill/>
              </a:ln>
              <a:solidFill>
                <a:srgbClr val="FF0000"/>
              </a:solidFill>
              <a:effectLst/>
              <a:uLnTx/>
              <a:uFillTx/>
              <a:latin typeface="HGP創英角ﾎﾟｯﾌﾟ体" panose="040B0A00000000000000" pitchFamily="50" charset="-128"/>
              <a:ea typeface="HGP創英角ﾎﾟｯﾌﾟ体" panose="040B0A00000000000000" pitchFamily="50" charset="-128"/>
              <a:cs typeface="+mn-cs"/>
            </a:endParaRPr>
          </a:p>
        </p:txBody>
      </p:sp>
    </p:spTree>
    <p:extLst>
      <p:ext uri="{BB962C8B-B14F-4D97-AF65-F5344CB8AC3E}">
        <p14:creationId xmlns:p14="http://schemas.microsoft.com/office/powerpoint/2010/main" val="3041262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4DA55D0-2D78-C3EF-A3DB-EBAE59ED953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03E5B3F9-11BD-45E2-F3A2-6C08DED9711A}"/>
              </a:ext>
            </a:extLst>
          </p:cNvPr>
          <p:cNvSpPr/>
          <p:nvPr/>
        </p:nvSpPr>
        <p:spPr>
          <a:xfrm>
            <a:off x="71919" y="174660"/>
            <a:ext cx="6739847" cy="17568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5400" dirty="0">
                <a:solidFill>
                  <a:srgbClr val="0070C0"/>
                </a:solidFill>
                <a:latin typeface="HGP創英角ﾎﾟｯﾌﾟ体" panose="040B0A00000000000000" pitchFamily="50" charset="-128"/>
                <a:ea typeface="HGP創英角ﾎﾟｯﾌﾟ体" panose="040B0A00000000000000" pitchFamily="50" charset="-128"/>
              </a:rPr>
              <a:t>タスク管理システム</a:t>
            </a:r>
            <a:r>
              <a:rPr kumimoji="1" lang="ja-JP" altLang="en-US" sz="3200" dirty="0">
                <a:solidFill>
                  <a:srgbClr val="0070C0"/>
                </a:solidFill>
                <a:latin typeface="HGP創英角ﾎﾟｯﾌﾟ体" panose="040B0A00000000000000" pitchFamily="50" charset="-128"/>
                <a:ea typeface="HGP創英角ﾎﾟｯﾌﾟ体" panose="040B0A00000000000000" pitchFamily="50" charset="-128"/>
              </a:rPr>
              <a:t>とは</a:t>
            </a:r>
            <a:endParaRPr kumimoji="1" lang="ja-JP" altLang="en-US" sz="5400" dirty="0">
              <a:solidFill>
                <a:srgbClr val="0070C0"/>
              </a:solidFill>
              <a:latin typeface="HGP創英角ﾎﾟｯﾌﾟ体" panose="040B0A00000000000000" pitchFamily="50" charset="-128"/>
              <a:ea typeface="HGP創英角ﾎﾟｯﾌﾟ体" panose="040B0A00000000000000" pitchFamily="50" charset="-128"/>
            </a:endParaRPr>
          </a:p>
        </p:txBody>
      </p:sp>
      <p:sp>
        <p:nvSpPr>
          <p:cNvPr id="3" name="正方形/長方形 2">
            <a:extLst>
              <a:ext uri="{FF2B5EF4-FFF2-40B4-BE49-F238E27FC236}">
                <a16:creationId xmlns:a16="http://schemas.microsoft.com/office/drawing/2014/main" id="{5248A6C7-5C42-97A8-0B77-9B05A9106F9D}"/>
              </a:ext>
            </a:extLst>
          </p:cNvPr>
          <p:cNvSpPr/>
          <p:nvPr/>
        </p:nvSpPr>
        <p:spPr>
          <a:xfrm>
            <a:off x="452064" y="1602769"/>
            <a:ext cx="10726220" cy="465419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en-US" altLang="ja-JP" sz="2800" dirty="0">
              <a:solidFill>
                <a:schemeClr val="bg2"/>
              </a:solidFill>
              <a:latin typeface="HGP創英角ﾎﾟｯﾌﾟ体" panose="040B0A00000000000000" pitchFamily="50" charset="-128"/>
              <a:ea typeface="HGP創英角ﾎﾟｯﾌﾟ体" panose="040B0A00000000000000" pitchFamily="50" charset="-128"/>
            </a:endParaRPr>
          </a:p>
          <a:p>
            <a:r>
              <a:rPr kumimoji="1" lang="ja-JP" altLang="en-US" sz="2800" dirty="0">
                <a:solidFill>
                  <a:schemeClr val="bg2"/>
                </a:solidFill>
                <a:latin typeface="HGP創英角ﾎﾟｯﾌﾟ体" panose="040B0A00000000000000" pitchFamily="50" charset="-128"/>
                <a:ea typeface="HGP創英角ﾎﾟｯﾌﾟ体" panose="040B0A00000000000000" pitchFamily="50" charset="-128"/>
              </a:rPr>
              <a:t>★タスクの優先順位や進行状況が目に見てわかる</a:t>
            </a:r>
            <a:endParaRPr kumimoji="1" lang="en-US" altLang="ja-JP" sz="2800" dirty="0">
              <a:solidFill>
                <a:schemeClr val="bg2"/>
              </a:solidFill>
              <a:latin typeface="HGP創英角ﾎﾟｯﾌﾟ体" panose="040B0A00000000000000" pitchFamily="50" charset="-128"/>
              <a:ea typeface="HGP創英角ﾎﾟｯﾌﾟ体" panose="040B0A00000000000000" pitchFamily="50" charset="-128"/>
            </a:endParaRPr>
          </a:p>
          <a:p>
            <a:endParaRPr kumimoji="1" lang="en-US" altLang="ja-JP" sz="2800" dirty="0">
              <a:solidFill>
                <a:schemeClr val="bg2"/>
              </a:solidFill>
              <a:latin typeface="HGP創英角ﾎﾟｯﾌﾟ体" panose="040B0A00000000000000" pitchFamily="50" charset="-128"/>
              <a:ea typeface="HGP創英角ﾎﾟｯﾌﾟ体" panose="040B0A00000000000000" pitchFamily="50" charset="-128"/>
            </a:endParaRPr>
          </a:p>
          <a:p>
            <a:r>
              <a:rPr kumimoji="1" lang="ja-JP" altLang="en-US" sz="2800" dirty="0">
                <a:solidFill>
                  <a:schemeClr val="bg2"/>
                </a:solidFill>
                <a:latin typeface="HGP創英角ﾎﾟｯﾌﾟ体" panose="040B0A00000000000000" pitchFamily="50" charset="-128"/>
                <a:ea typeface="HGP創英角ﾎﾟｯﾌﾟ体" panose="040B0A00000000000000" pitchFamily="50" charset="-128"/>
              </a:rPr>
              <a:t>★上長からもタスクが見える化される</a:t>
            </a:r>
            <a:endParaRPr kumimoji="1" lang="en-US" altLang="ja-JP" sz="2800" dirty="0">
              <a:solidFill>
                <a:schemeClr val="bg2"/>
              </a:solidFill>
              <a:latin typeface="HGP創英角ﾎﾟｯﾌﾟ体" panose="040B0A00000000000000" pitchFamily="50" charset="-128"/>
              <a:ea typeface="HGP創英角ﾎﾟｯﾌﾟ体" panose="040B0A00000000000000" pitchFamily="50" charset="-128"/>
            </a:endParaRPr>
          </a:p>
          <a:p>
            <a:endParaRPr kumimoji="1" lang="en-US" altLang="ja-JP" sz="2800" dirty="0">
              <a:solidFill>
                <a:schemeClr val="bg2"/>
              </a:solidFill>
              <a:latin typeface="HGP創英角ﾎﾟｯﾌﾟ体" panose="040B0A00000000000000" pitchFamily="50" charset="-128"/>
              <a:ea typeface="HGP創英角ﾎﾟｯﾌﾟ体" panose="040B0A00000000000000" pitchFamily="50" charset="-128"/>
            </a:endParaRPr>
          </a:p>
          <a:p>
            <a:r>
              <a:rPr kumimoji="1" lang="ja-JP" altLang="en-US" sz="28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⇒各業務の優先順位を明確にして進められるようになる。</a:t>
            </a:r>
            <a:endParaRPr kumimoji="1" lang="en-US" altLang="ja-JP" sz="28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endParaRPr>
          </a:p>
          <a:p>
            <a:r>
              <a:rPr kumimoji="1" lang="ja-JP" altLang="en-US" sz="28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　また、個人としての管理はもちろん上長からもそれらの見える化を</a:t>
            </a:r>
            <a:endParaRPr kumimoji="1" lang="en-US" altLang="ja-JP" sz="28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endParaRPr>
          </a:p>
          <a:p>
            <a:r>
              <a:rPr kumimoji="1" lang="ja-JP" altLang="en-US" sz="28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rPr>
              <a:t>　実現し、フォローアップの体制を整える。</a:t>
            </a:r>
            <a:endParaRPr kumimoji="1" lang="en-US" altLang="ja-JP" sz="2800" dirty="0">
              <a:solidFill>
                <a:schemeClr val="accent1">
                  <a:lumMod val="60000"/>
                  <a:lumOff val="40000"/>
                </a:schemeClr>
              </a:solidFill>
              <a:latin typeface="HGP創英角ﾎﾟｯﾌﾟ体" panose="040B0A00000000000000" pitchFamily="50" charset="-128"/>
              <a:ea typeface="HGP創英角ﾎﾟｯﾌﾟ体" panose="040B0A00000000000000" pitchFamily="50" charset="-128"/>
            </a:endParaRPr>
          </a:p>
        </p:txBody>
      </p:sp>
      <p:pic>
        <p:nvPicPr>
          <p:cNvPr id="6" name="図 5">
            <a:extLst>
              <a:ext uri="{FF2B5EF4-FFF2-40B4-BE49-F238E27FC236}">
                <a16:creationId xmlns:a16="http://schemas.microsoft.com/office/drawing/2014/main" id="{3C88042F-B3DC-24ED-2F70-A713ACD34DAF}"/>
              </a:ext>
            </a:extLst>
          </p:cNvPr>
          <p:cNvPicPr>
            <a:picLocks noChangeAspect="1"/>
          </p:cNvPicPr>
          <p:nvPr/>
        </p:nvPicPr>
        <p:blipFill>
          <a:blip r:embed="rId2"/>
          <a:stretch>
            <a:fillRect/>
          </a:stretch>
        </p:blipFill>
        <p:spPr>
          <a:xfrm rot="488766">
            <a:off x="8449747" y="734622"/>
            <a:ext cx="3306221" cy="3306221"/>
          </a:xfrm>
          <a:prstGeom prst="rect">
            <a:avLst/>
          </a:prstGeom>
        </p:spPr>
      </p:pic>
    </p:spTree>
    <p:extLst>
      <p:ext uri="{BB962C8B-B14F-4D97-AF65-F5344CB8AC3E}">
        <p14:creationId xmlns:p14="http://schemas.microsoft.com/office/powerpoint/2010/main" val="2823165339"/>
      </p:ext>
    </p:extLst>
  </p:cSld>
  <p:clrMapOvr>
    <a:masterClrMapping/>
  </p:clrMapOvr>
</p:sld>
</file>

<file path=ppt/theme/theme1.xml><?xml version="1.0" encoding="utf-8"?>
<a:theme xmlns:a="http://schemas.openxmlformats.org/drawingml/2006/main" name="エディトリアル">
  <a:themeElements>
    <a:clrScheme name="エディトリアル">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71EC1670-473B-4381-BA1C-B02CC96DD716}" vid="{C5D3EF77-ADD0-40FD-A769-C339DAE739D1}"/>
    </a:ext>
  </a:extLst>
</a:theme>
</file>

<file path=docProps/app.xml><?xml version="1.0" encoding="utf-8"?>
<Properties xmlns="http://schemas.openxmlformats.org/officeDocument/2006/extended-properties" xmlns:vt="http://schemas.openxmlformats.org/officeDocument/2006/docPropsVTypes">
  <Template>Editorial</Template>
  <TotalTime>228</TotalTime>
  <Words>556</Words>
  <Application>Microsoft Office PowerPoint</Application>
  <PresentationFormat>ワイド画面</PresentationFormat>
  <Paragraphs>55</Paragraphs>
  <Slides>8</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8</vt:i4>
      </vt:variant>
    </vt:vector>
  </HeadingPairs>
  <TitlesOfParts>
    <vt:vector size="14" baseType="lpstr">
      <vt:lpstr>HGP創英角ﾎﾟｯﾌﾟ体</vt:lpstr>
      <vt:lpstr>Aptos</vt:lpstr>
      <vt:lpstr>Arial</vt:lpstr>
      <vt:lpstr>Haettenschweiler</vt:lpstr>
      <vt:lpstr>Trade Gothic Next Light</vt:lpstr>
      <vt:lpstr>エディトリアル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渡辺のぞみ</dc:creator>
  <cp:lastModifiedBy>渡辺のぞみ</cp:lastModifiedBy>
  <cp:revision>8</cp:revision>
  <dcterms:created xsi:type="dcterms:W3CDTF">2026-10-01T12:47:43Z</dcterms:created>
  <dcterms:modified xsi:type="dcterms:W3CDTF">2026-10-20T14:04:54Z</dcterms:modified>
</cp:coreProperties>
</file>