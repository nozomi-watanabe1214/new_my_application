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8" r:id="rId1"/>
  </p:sldMasterIdLst>
  <p:sldIdLst>
    <p:sldId id="256" r:id="rId2"/>
    <p:sldId id="261" r:id="rId3"/>
    <p:sldId id="257" r:id="rId4"/>
    <p:sldId id="258" r:id="rId5"/>
    <p:sldId id="259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6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76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28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5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セクション見出し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8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087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93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5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51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15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701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511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414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76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83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978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645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187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877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34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438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82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7146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6137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99229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15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730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0619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  <p:sldLayoutId id="2147483916" r:id="rId18"/>
    <p:sldLayoutId id="2147483917" r:id="rId19"/>
    <p:sldLayoutId id="2147483918" r:id="rId20"/>
    <p:sldLayoutId id="2147483919" r:id="rId21"/>
    <p:sldLayoutId id="2147483920" r:id="rId22"/>
    <p:sldLayoutId id="2147483921" r:id="rId23"/>
    <p:sldLayoutId id="2147483922" r:id="rId24"/>
    <p:sldLayoutId id="2147483923" r:id="rId25"/>
    <p:sldLayoutId id="2147483924" r:id="rId26"/>
    <p:sldLayoutId id="2147483925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kumimoji="1"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BBA34DA-67E3-DC1A-4BE9-71F6EA5EC27A}"/>
              </a:ext>
            </a:extLst>
          </p:cNvPr>
          <p:cNvSpPr/>
          <p:nvPr/>
        </p:nvSpPr>
        <p:spPr>
          <a:xfrm>
            <a:off x="1171254" y="842481"/>
            <a:ext cx="9811820" cy="3924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採用管理システム</a:t>
            </a:r>
            <a:r>
              <a:rPr kumimoji="1" lang="ja-JP" alt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とは</a:t>
            </a:r>
            <a:endParaRPr kumimoji="1" lang="ja-JP" altLang="en-US" sz="80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2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E0243-5D54-B0D4-A614-3B89D2D4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C1827D-7BCF-9208-8395-B69FA80EF557}"/>
              </a:ext>
            </a:extLst>
          </p:cNvPr>
          <p:cNvSpPr/>
          <p:nvPr/>
        </p:nvSpPr>
        <p:spPr>
          <a:xfrm>
            <a:off x="71919" y="174660"/>
            <a:ext cx="10931703" cy="1756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採用管理システム</a:t>
            </a:r>
            <a:r>
              <a:rPr kumimoji="1" lang="ja-JP" altLang="en-US" sz="32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を作ろうと思った経緯。。。</a:t>
            </a:r>
            <a:endParaRPr kumimoji="1" lang="ja-JP" altLang="en-US" sz="5400" dirty="0">
              <a:solidFill>
                <a:srgbClr val="0070C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571A34C-277C-6945-E93B-9A59C9D96EE4}"/>
              </a:ext>
            </a:extLst>
          </p:cNvPr>
          <p:cNvSpPr/>
          <p:nvPr/>
        </p:nvSpPr>
        <p:spPr>
          <a:xfrm>
            <a:off x="791109" y="1417833"/>
            <a:ext cx="10931703" cy="5044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★転職の際に応募をし、面接日やその他連絡等が早く来たほうが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印象が良かったため。早いと</a:t>
            </a:r>
            <a:r>
              <a:rPr kumimoji="1" lang="ja-JP" altLang="en-US" sz="2800" u="sng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「採用に対する気持ち」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が高いのかと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感じたため。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★前職にて、問い合わせのあった際にどれだけ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第一アクションを</a:t>
            </a:r>
            <a:endParaRPr kumimoji="1" lang="en-US" altLang="ja-JP" sz="2800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早く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とれるかということをポイントにしてやっていた。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やはり応募や問い合わせをする時点で検討段階にあるので、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他よりも早く検討してもらう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ことで、次の選択肢を相手に増やさずに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いい人材を獲得していけると感じたから。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そしてその方が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面接の決定率・採用率の向上に繋がる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と考えたため。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22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メール パソコンのロイヤリティフリーイラスト素材 58,900点以上 - iStock">
            <a:extLst>
              <a:ext uri="{FF2B5EF4-FFF2-40B4-BE49-F238E27FC236}">
                <a16:creationId xmlns:a16="http://schemas.microsoft.com/office/drawing/2014/main" id="{FE642934-F745-13A7-5AF7-291D17C73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2810">
            <a:off x="9988028" y="4905444"/>
            <a:ext cx="1929255" cy="1654998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47CFD6F-0DE6-AE3C-274C-D96488481DDC}"/>
              </a:ext>
            </a:extLst>
          </p:cNvPr>
          <p:cNvGrpSpPr/>
          <p:nvPr/>
        </p:nvGrpSpPr>
        <p:grpSpPr>
          <a:xfrm>
            <a:off x="359596" y="164388"/>
            <a:ext cx="11517330" cy="6482991"/>
            <a:chOff x="359596" y="164388"/>
            <a:chExt cx="11517330" cy="6482991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BDCC805F-E465-5FA6-5808-7B4564CF1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596" y="184934"/>
              <a:ext cx="4508644" cy="6462445"/>
            </a:xfrm>
            <a:prstGeom prst="rect">
              <a:avLst/>
            </a:prstGeom>
          </p:spPr>
        </p:pic>
        <p:sp>
          <p:nvSpPr>
            <p:cNvPr id="4" name="吹き出し: 角を丸めた四角形 3">
              <a:extLst>
                <a:ext uri="{FF2B5EF4-FFF2-40B4-BE49-F238E27FC236}">
                  <a16:creationId xmlns:a16="http://schemas.microsoft.com/office/drawing/2014/main" id="{0C86B683-0AE3-6132-882B-DDD370982EB1}"/>
                </a:ext>
              </a:extLst>
            </p:cNvPr>
            <p:cNvSpPr/>
            <p:nvPr/>
          </p:nvSpPr>
          <p:spPr>
            <a:xfrm>
              <a:off x="5486399" y="164388"/>
              <a:ext cx="6390527" cy="4448710"/>
            </a:xfrm>
            <a:prstGeom prst="wedgeRoundRectCallout">
              <a:avLst>
                <a:gd name="adj1" fmla="val -63811"/>
                <a:gd name="adj2" fmla="val -10957"/>
                <a:gd name="adj3" fmla="val 1666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応募者に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①名前　②カナ　③性別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④生年月日　⑤メールアドレス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⑥電話番号　⑦郵便番号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⑧住所　⑨最終学歴　⑩希望勤務地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pPr algn="r"/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を入力してもらう！</a:t>
              </a:r>
              <a:endParaRPr kumimoji="1" lang="ja-JP" altLang="en-US" dirty="0"/>
            </a:p>
          </p:txBody>
        </p:sp>
        <p:sp>
          <p:nvSpPr>
            <p:cNvPr id="7" name="矢印: 下 6">
              <a:extLst>
                <a:ext uri="{FF2B5EF4-FFF2-40B4-BE49-F238E27FC236}">
                  <a16:creationId xmlns:a16="http://schemas.microsoft.com/office/drawing/2014/main" id="{92E266E8-2BB1-0B6E-32EB-84EC18BBDFEE}"/>
                </a:ext>
              </a:extLst>
            </p:cNvPr>
            <p:cNvSpPr/>
            <p:nvPr/>
          </p:nvSpPr>
          <p:spPr>
            <a:xfrm>
              <a:off x="8003569" y="4479533"/>
              <a:ext cx="1284270" cy="832207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27CFADC-76E5-2933-FDC8-805DA90652B1}"/>
                </a:ext>
              </a:extLst>
            </p:cNvPr>
            <p:cNvSpPr/>
            <p:nvPr/>
          </p:nvSpPr>
          <p:spPr>
            <a:xfrm>
              <a:off x="4722687" y="5311741"/>
              <a:ext cx="6667928" cy="12637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2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　採用担当の元へデータが送られる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27F26AC-072A-BE78-C9D6-F906B7699E0B}"/>
              </a:ext>
            </a:extLst>
          </p:cNvPr>
          <p:cNvSpPr/>
          <p:nvPr/>
        </p:nvSpPr>
        <p:spPr>
          <a:xfrm>
            <a:off x="1931542" y="1489753"/>
            <a:ext cx="678094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E63CB98-3A08-A3C4-5F7A-F0D44C86CC5F}"/>
              </a:ext>
            </a:extLst>
          </p:cNvPr>
          <p:cNvSpPr/>
          <p:nvPr/>
        </p:nvSpPr>
        <p:spPr>
          <a:xfrm>
            <a:off x="1909280" y="1837362"/>
            <a:ext cx="936661" cy="176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813BF7D-A4A5-A5B3-3B1B-D7A9E867F1BE}"/>
              </a:ext>
            </a:extLst>
          </p:cNvPr>
          <p:cNvSpPr/>
          <p:nvPr/>
        </p:nvSpPr>
        <p:spPr>
          <a:xfrm>
            <a:off x="1921268" y="2609635"/>
            <a:ext cx="636998" cy="1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2A3DD3-AB6F-8EAC-81DD-989522C74BDD}"/>
              </a:ext>
            </a:extLst>
          </p:cNvPr>
          <p:cNvSpPr/>
          <p:nvPr/>
        </p:nvSpPr>
        <p:spPr>
          <a:xfrm>
            <a:off x="1962364" y="2969232"/>
            <a:ext cx="1160979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F945724-EF40-641E-30E4-27347266F69C}"/>
              </a:ext>
            </a:extLst>
          </p:cNvPr>
          <p:cNvSpPr/>
          <p:nvPr/>
        </p:nvSpPr>
        <p:spPr>
          <a:xfrm>
            <a:off x="1941815" y="3369923"/>
            <a:ext cx="842482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0222C3D-2B44-B448-70F4-23F44256C591}"/>
              </a:ext>
            </a:extLst>
          </p:cNvPr>
          <p:cNvSpPr/>
          <p:nvPr/>
        </p:nvSpPr>
        <p:spPr>
          <a:xfrm>
            <a:off x="1962364" y="3801437"/>
            <a:ext cx="636998" cy="1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8C6DA3F-E32E-E4DD-54F5-376F097E7872}"/>
              </a:ext>
            </a:extLst>
          </p:cNvPr>
          <p:cNvSpPr/>
          <p:nvPr/>
        </p:nvSpPr>
        <p:spPr>
          <a:xfrm>
            <a:off x="1972637" y="4212404"/>
            <a:ext cx="1356189" cy="205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9FEDBB6-3AA7-BA51-EFBF-5F0F34DA9800}"/>
              </a:ext>
            </a:extLst>
          </p:cNvPr>
          <p:cNvSpPr/>
          <p:nvPr/>
        </p:nvSpPr>
        <p:spPr>
          <a:xfrm>
            <a:off x="1941815" y="486995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D372F1E-D132-567F-3B5F-6C7D637EE49D}"/>
              </a:ext>
            </a:extLst>
          </p:cNvPr>
          <p:cNvSpPr/>
          <p:nvPr/>
        </p:nvSpPr>
        <p:spPr>
          <a:xfrm>
            <a:off x="1888731" y="526893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30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EB8D-76BB-DF74-221E-6471A675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FBFE30-8112-A0F0-389E-97E0B163B267}"/>
              </a:ext>
            </a:extLst>
          </p:cNvPr>
          <p:cNvSpPr/>
          <p:nvPr/>
        </p:nvSpPr>
        <p:spPr>
          <a:xfrm>
            <a:off x="308225" y="184935"/>
            <a:ext cx="5661060" cy="996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dirty="0">
                <a:solidFill>
                  <a:schemeClr val="accent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採用担当側では、、、</a:t>
            </a:r>
            <a:endParaRPr kumimoji="1" lang="en-US" altLang="ja-JP" sz="2400" dirty="0">
              <a:solidFill>
                <a:schemeClr val="accent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accent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条件に合わせて検索→一覧表示が可能！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5C2E911-D376-8898-41DE-D337D843D3E7}"/>
              </a:ext>
            </a:extLst>
          </p:cNvPr>
          <p:cNvSpPr/>
          <p:nvPr/>
        </p:nvSpPr>
        <p:spPr>
          <a:xfrm>
            <a:off x="8887146" y="2938409"/>
            <a:ext cx="1202076" cy="421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D83D28F-8AA1-C3E4-B872-E96B32BC92E3}"/>
              </a:ext>
            </a:extLst>
          </p:cNvPr>
          <p:cNvSpPr/>
          <p:nvPr/>
        </p:nvSpPr>
        <p:spPr>
          <a:xfrm>
            <a:off x="883578" y="2178121"/>
            <a:ext cx="3914453" cy="256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E6529BC-8898-8442-E5D2-2BA77DCFE676}"/>
              </a:ext>
            </a:extLst>
          </p:cNvPr>
          <p:cNvGrpSpPr/>
          <p:nvPr/>
        </p:nvGrpSpPr>
        <p:grpSpPr>
          <a:xfrm>
            <a:off x="604298" y="1408273"/>
            <a:ext cx="10579028" cy="5043897"/>
            <a:chOff x="604298" y="1408273"/>
            <a:chExt cx="10579028" cy="5043897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4D9C045F-62C1-D9D4-F454-CE31A01A9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643" y="3969753"/>
              <a:ext cx="10484683" cy="2482417"/>
            </a:xfrm>
            <a:prstGeom prst="rect">
              <a:avLst/>
            </a:prstGeom>
          </p:spPr>
        </p:pic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35A4EDD3-CF33-0BC4-5B28-51B9DC1188BE}"/>
                </a:ext>
              </a:extLst>
            </p:cNvPr>
            <p:cNvGrpSpPr/>
            <p:nvPr/>
          </p:nvGrpSpPr>
          <p:grpSpPr>
            <a:xfrm>
              <a:off x="604298" y="1408273"/>
              <a:ext cx="10502066" cy="2281698"/>
              <a:chOff x="676217" y="1213064"/>
              <a:chExt cx="10502066" cy="2281698"/>
            </a:xfrm>
          </p:grpSpPr>
          <p:pic>
            <p:nvPicPr>
              <p:cNvPr id="20" name="図 19">
                <a:extLst>
                  <a:ext uri="{FF2B5EF4-FFF2-40B4-BE49-F238E27FC236}">
                    <a16:creationId xmlns:a16="http://schemas.microsoft.com/office/drawing/2014/main" id="{59152DC1-C53B-5AC5-6A43-443A1280D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217" y="1213064"/>
                <a:ext cx="10502066" cy="2281698"/>
              </a:xfrm>
              <a:prstGeom prst="rect">
                <a:avLst/>
              </a:prstGeom>
            </p:spPr>
          </p:pic>
          <p:pic>
            <p:nvPicPr>
              <p:cNvPr id="24" name="図 23">
                <a:extLst>
                  <a:ext uri="{FF2B5EF4-FFF2-40B4-BE49-F238E27FC236}">
                    <a16:creationId xmlns:a16="http://schemas.microsoft.com/office/drawing/2014/main" id="{C6DCBB15-27C3-9D83-ACAA-F9B9A0593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030" y="2092815"/>
                <a:ext cx="3852809" cy="436550"/>
              </a:xfrm>
              <a:prstGeom prst="rect">
                <a:avLst/>
              </a:prstGeom>
            </p:spPr>
          </p:pic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D72FD3C7-F3DA-FC74-C50E-506AB5C829B9}"/>
                  </a:ext>
                </a:extLst>
              </p:cNvPr>
              <p:cNvSpPr/>
              <p:nvPr/>
            </p:nvSpPr>
            <p:spPr>
              <a:xfrm>
                <a:off x="873303" y="2547991"/>
                <a:ext cx="3904180" cy="3082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8" name="矢印: 下 27">
              <a:extLst>
                <a:ext uri="{FF2B5EF4-FFF2-40B4-BE49-F238E27FC236}">
                  <a16:creationId xmlns:a16="http://schemas.microsoft.com/office/drawing/2014/main" id="{28255B2D-61CC-B17A-278D-2E2AE788922C}"/>
                </a:ext>
              </a:extLst>
            </p:cNvPr>
            <p:cNvSpPr/>
            <p:nvPr/>
          </p:nvSpPr>
          <p:spPr>
            <a:xfrm>
              <a:off x="5424755" y="3318553"/>
              <a:ext cx="1150706" cy="80138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8D40B80-BEE2-ED9D-05B3-7CA097FFC8D1}"/>
              </a:ext>
            </a:extLst>
          </p:cNvPr>
          <p:cNvSpPr/>
          <p:nvPr/>
        </p:nvSpPr>
        <p:spPr>
          <a:xfrm>
            <a:off x="1777428" y="1674689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B793D9B-005C-83F1-9EFC-6DCFD5B2735F}"/>
              </a:ext>
            </a:extLst>
          </p:cNvPr>
          <p:cNvSpPr/>
          <p:nvPr/>
        </p:nvSpPr>
        <p:spPr>
          <a:xfrm>
            <a:off x="1941815" y="486995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EFF016-E709-BA0C-B326-8FB3B8E034EA}"/>
              </a:ext>
            </a:extLst>
          </p:cNvPr>
          <p:cNvSpPr/>
          <p:nvPr/>
        </p:nvSpPr>
        <p:spPr>
          <a:xfrm>
            <a:off x="1796264" y="2032572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CDC1ADE-BD45-A343-EB40-3840FCD8126B}"/>
              </a:ext>
            </a:extLst>
          </p:cNvPr>
          <p:cNvSpPr/>
          <p:nvPr/>
        </p:nvSpPr>
        <p:spPr>
          <a:xfrm>
            <a:off x="1755168" y="2464086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864F213-D6C3-B990-723A-B5228CFF9B9E}"/>
              </a:ext>
            </a:extLst>
          </p:cNvPr>
          <p:cNvSpPr/>
          <p:nvPr/>
        </p:nvSpPr>
        <p:spPr>
          <a:xfrm>
            <a:off x="5998394" y="1662702"/>
            <a:ext cx="1018855" cy="114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FC6005D-73A7-AE05-94AC-1D051E37439F}"/>
              </a:ext>
            </a:extLst>
          </p:cNvPr>
          <p:cNvSpPr/>
          <p:nvPr/>
        </p:nvSpPr>
        <p:spPr>
          <a:xfrm>
            <a:off x="6008669" y="2053119"/>
            <a:ext cx="1666127" cy="125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1A150BA-6876-BE29-0450-D0554D183CEB}"/>
              </a:ext>
            </a:extLst>
          </p:cNvPr>
          <p:cNvSpPr/>
          <p:nvPr/>
        </p:nvSpPr>
        <p:spPr>
          <a:xfrm>
            <a:off x="5988121" y="2412716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F460C0F-12AC-58B7-4C56-92F89E11BAE0}"/>
              </a:ext>
            </a:extLst>
          </p:cNvPr>
          <p:cNvSpPr/>
          <p:nvPr/>
        </p:nvSpPr>
        <p:spPr>
          <a:xfrm>
            <a:off x="8114871" y="240244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34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EBD4F-744D-F20A-B671-D96691FC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6730BD-0009-21C6-01C3-B8C4A6117079}"/>
              </a:ext>
            </a:extLst>
          </p:cNvPr>
          <p:cNvSpPr/>
          <p:nvPr/>
        </p:nvSpPr>
        <p:spPr>
          <a:xfrm>
            <a:off x="5250094" y="1736333"/>
            <a:ext cx="7900827" cy="13767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3200" dirty="0">
              <a:solidFill>
                <a:schemeClr val="accent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201ABE2-0DE0-0DA8-59B4-F8626DD5814A}"/>
              </a:ext>
            </a:extLst>
          </p:cNvPr>
          <p:cNvGrpSpPr/>
          <p:nvPr/>
        </p:nvGrpSpPr>
        <p:grpSpPr>
          <a:xfrm>
            <a:off x="427513" y="400275"/>
            <a:ext cx="11634348" cy="6291908"/>
            <a:chOff x="427513" y="400275"/>
            <a:chExt cx="11634348" cy="6291908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39AEC700-1252-E878-7221-4DC6E3AB5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513" y="400275"/>
              <a:ext cx="5141080" cy="6291908"/>
            </a:xfrm>
            <a:prstGeom prst="rect">
              <a:avLst/>
            </a:prstGeom>
          </p:spPr>
        </p:pic>
        <p:sp>
          <p:nvSpPr>
            <p:cNvPr id="9" name="吹き出し: 角を丸めた四角形 8">
              <a:extLst>
                <a:ext uri="{FF2B5EF4-FFF2-40B4-BE49-F238E27FC236}">
                  <a16:creationId xmlns:a16="http://schemas.microsoft.com/office/drawing/2014/main" id="{F3E54927-7D64-5D91-627C-ACCA33205F1A}"/>
                </a:ext>
              </a:extLst>
            </p:cNvPr>
            <p:cNvSpPr/>
            <p:nvPr/>
          </p:nvSpPr>
          <p:spPr>
            <a:xfrm>
              <a:off x="6051479" y="431516"/>
              <a:ext cx="6010382" cy="3359648"/>
            </a:xfrm>
            <a:prstGeom prst="wedgeRoundRectCallout">
              <a:avLst>
                <a:gd name="adj1" fmla="val -62785"/>
                <a:gd name="adj2" fmla="val -21966"/>
                <a:gd name="adj3" fmla="val 16667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面接状況を</a:t>
              </a:r>
              <a:endParaRPr kumimoji="1" lang="en-US" altLang="ja-JP" sz="32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カレンダーへ反映することで</a:t>
              </a:r>
              <a:endParaRPr kumimoji="1" lang="en-US" altLang="ja-JP" sz="32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予定が見やすく、</a:t>
              </a:r>
              <a:endParaRPr kumimoji="1" lang="en-US" altLang="ja-JP" sz="32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面接設定自体もしやすくなる！</a:t>
              </a:r>
            </a:p>
            <a:p>
              <a:endParaRPr kumimoji="1" lang="ja-JP" altLang="en-US" dirty="0"/>
            </a:p>
          </p:txBody>
        </p:sp>
      </p:grpSp>
      <p:pic>
        <p:nvPicPr>
          <p:cNvPr id="18" name="図 17" descr="面接マナーをわかりやすく解説！入室前から退室後までの注意点をイラストでご紹介 | なるほど！ジョブメドレー">
            <a:extLst>
              <a:ext uri="{FF2B5EF4-FFF2-40B4-BE49-F238E27FC236}">
                <a16:creationId xmlns:a16="http://schemas.microsoft.com/office/drawing/2014/main" id="{B0512C40-E762-C398-4282-9571451D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291" y="3870788"/>
            <a:ext cx="4516848" cy="275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7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B0735-6595-FEF9-D7AA-4269816D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2FBD21-3317-656E-B975-605B2D013B11}"/>
              </a:ext>
            </a:extLst>
          </p:cNvPr>
          <p:cNvSpPr/>
          <p:nvPr/>
        </p:nvSpPr>
        <p:spPr>
          <a:xfrm>
            <a:off x="0" y="328773"/>
            <a:ext cx="5414481" cy="616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【</a:t>
            </a:r>
            <a:r>
              <a:rPr kumimoji="1" lang="ja-JP" altLang="en-US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機能一覧</a:t>
            </a:r>
            <a:r>
              <a:rPr kumimoji="1" lang="en-US" altLang="ja-JP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】</a:t>
            </a:r>
            <a:endParaRPr kumimoji="1" lang="ja-JP" altLang="en-US" sz="5400" dirty="0">
              <a:solidFill>
                <a:srgbClr val="0070C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D540B69-5C74-B38C-BCA7-24AEA0539F68}"/>
              </a:ext>
            </a:extLst>
          </p:cNvPr>
          <p:cNvSpPr/>
          <p:nvPr/>
        </p:nvSpPr>
        <p:spPr>
          <a:xfrm>
            <a:off x="339048" y="698644"/>
            <a:ext cx="11630346" cy="6159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応募情報の登録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（氏名・カナ・性別・生年月日・メールアドレス・電話番号・郵便番号・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　　　　　　　　　　　　　　　　　　　　　　　　　　　　　　　　　　　　住所・最終学歴・希望勤務地）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→これらのデータベースへの登録　</a:t>
            </a:r>
            <a:r>
              <a:rPr kumimoji="1" lang="en-US" altLang="ja-JP" sz="1700" u="sng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※</a:t>
            </a:r>
            <a:r>
              <a:rPr kumimoji="1" lang="ja-JP" altLang="en-US" sz="1700" u="sng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応募日時・更新日時・削除フラグは</a:t>
            </a:r>
            <a:r>
              <a:rPr kumimoji="1" lang="en-US" altLang="ja-JP" sz="1700" u="sng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kumimoji="1" lang="ja-JP" altLang="en-US" sz="1700" u="sng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登録時に自動反映</a:t>
            </a:r>
            <a:endParaRPr kumimoji="1" lang="en-US" altLang="ja-JP" sz="1700" u="sng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応募者情報を検索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（氏名・カナ・性別・メールアドレス・面接予定日・選考状況・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　　　　　　　　　　　　　　　　　　　　　　　　　　　　　　　　　　　　　　　　　　　　　 担当者・合否）</a:t>
            </a:r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応募者情報を一覧表示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（応募者</a:t>
            </a:r>
            <a:r>
              <a:rPr kumimoji="1" lang="en-US" altLang="ja-JP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ID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・氏名・カナ・性別・メールアドレス・電話番号・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　　　　　　　　　　　　　　　応募日・面接予定日・選考状況・更新日時・担当者・更新ボタン）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→更新ボタンより変更・登録が可能</a:t>
            </a:r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採用スケジュールカレンダーへ自動反映</a:t>
            </a:r>
            <a:endParaRPr kumimoji="1" lang="en-US" altLang="ja-JP" sz="2800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126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A55D0-2D78-C3EF-A3DB-EBAE59ED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E5B3F9-11BD-45E2-F3A2-6C08DED9711A}"/>
              </a:ext>
            </a:extLst>
          </p:cNvPr>
          <p:cNvSpPr/>
          <p:nvPr/>
        </p:nvSpPr>
        <p:spPr>
          <a:xfrm>
            <a:off x="71919" y="174660"/>
            <a:ext cx="6739847" cy="1756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採用管理システム</a:t>
            </a:r>
            <a:r>
              <a:rPr kumimoji="1" lang="ja-JP" altLang="en-US" sz="32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とは</a:t>
            </a:r>
            <a:endParaRPr kumimoji="1" lang="ja-JP" altLang="en-US" sz="5400" dirty="0">
              <a:solidFill>
                <a:srgbClr val="0070C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48A6C7-5C42-97A8-0B77-9B05A9106F9D}"/>
              </a:ext>
            </a:extLst>
          </p:cNvPr>
          <p:cNvSpPr/>
          <p:nvPr/>
        </p:nvSpPr>
        <p:spPr>
          <a:xfrm>
            <a:off x="760288" y="1417833"/>
            <a:ext cx="10417995" cy="4839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★応募者情報を一括管理できる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★面接設定状況・応募状況が一覧でわかる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⇒採用数の増加に向けたアクションの見える化を実現し、</a:t>
            </a:r>
            <a:endParaRPr kumimoji="1" lang="en-US" altLang="ja-JP" sz="28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情報共有時間の効率化・面接日程設定までの時間短縮による</a:t>
            </a:r>
            <a:endParaRPr kumimoji="1" lang="en-US" altLang="ja-JP" sz="28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面接設定件数の増加・採用数の増加を図る。</a:t>
            </a:r>
            <a:endParaRPr kumimoji="1" lang="en-US" altLang="ja-JP" sz="28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algn="ctr"/>
            <a:endParaRPr kumimoji="1" lang="ja-JP" altLang="en-US" dirty="0">
              <a:solidFill>
                <a:schemeClr val="bg2"/>
              </a:solidFill>
            </a:endParaRPr>
          </a:p>
        </p:txBody>
      </p:sp>
      <p:pic>
        <p:nvPicPr>
          <p:cNvPr id="5" name="図 4" descr="採用のゴム印 イラスト素材 [1065676] - フォトライブラリー">
            <a:extLst>
              <a:ext uri="{FF2B5EF4-FFF2-40B4-BE49-F238E27FC236}">
                <a16:creationId xmlns:a16="http://schemas.microsoft.com/office/drawing/2014/main" id="{14F822B3-1CD7-90FF-C7B7-E84CBC47C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15468">
            <a:off x="7910696" y="275123"/>
            <a:ext cx="3905951" cy="296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65339"/>
      </p:ext>
    </p:extLst>
  </p:cSld>
  <p:clrMapOvr>
    <a:masterClrMapping/>
  </p:clrMapOvr>
</p:sld>
</file>

<file path=ppt/theme/theme1.xml><?xml version="1.0" encoding="utf-8"?>
<a:theme xmlns:a="http://schemas.openxmlformats.org/drawingml/2006/main" name="エディトリアル">
  <a:themeElements>
    <a:clrScheme name="エディトリアル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204</TotalTime>
  <Words>432</Words>
  <Application>Microsoft Office PowerPoint</Application>
  <PresentationFormat>ワイド画面</PresentationFormat>
  <Paragraphs>52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HGP創英角ﾎﾟｯﾌﾟ体</vt:lpstr>
      <vt:lpstr>Aptos</vt:lpstr>
      <vt:lpstr>Arial</vt:lpstr>
      <vt:lpstr>Haettenschweiler</vt:lpstr>
      <vt:lpstr>Trade Gothic Next Light</vt:lpstr>
      <vt:lpstr>エディトリアル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渡辺のぞみ</dc:creator>
  <cp:lastModifiedBy>渡辺のぞみ</cp:lastModifiedBy>
  <cp:revision>8</cp:revision>
  <dcterms:created xsi:type="dcterms:W3CDTF">2026-10-01T12:47:43Z</dcterms:created>
  <dcterms:modified xsi:type="dcterms:W3CDTF">2026-10-20T13:52:05Z</dcterms:modified>
</cp:coreProperties>
</file>